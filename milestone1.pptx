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59" r:id="rId5"/>
    <p:sldId id="260" r:id="rId6"/>
    <p:sldId id="268" r:id="rId7"/>
    <p:sldId id="261" r:id="rId8"/>
    <p:sldId id="26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FBB97-E5BB-EB8D-F438-6C9F87ECE1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42EAB81-3A6B-26A7-0BF3-94FAAED413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84F44F5-B4B5-2C9C-4DF5-7B26E9394580}"/>
              </a:ext>
            </a:extLst>
          </p:cNvPr>
          <p:cNvSpPr>
            <a:spLocks noGrp="1"/>
          </p:cNvSpPr>
          <p:nvPr>
            <p:ph type="dt" sz="half" idx="10"/>
          </p:nvPr>
        </p:nvSpPr>
        <p:spPr/>
        <p:txBody>
          <a:bodyPr/>
          <a:lstStyle/>
          <a:p>
            <a:fld id="{BC432321-5E54-45C8-B388-004C8845608A}" type="datetimeFigureOut">
              <a:rPr lang="en-IN" smtClean="0"/>
              <a:t>24-02-2026</a:t>
            </a:fld>
            <a:endParaRPr lang="en-IN"/>
          </a:p>
        </p:txBody>
      </p:sp>
      <p:sp>
        <p:nvSpPr>
          <p:cNvPr id="5" name="Footer Placeholder 4">
            <a:extLst>
              <a:ext uri="{FF2B5EF4-FFF2-40B4-BE49-F238E27FC236}">
                <a16:creationId xmlns:a16="http://schemas.microsoft.com/office/drawing/2014/main" id="{73F50A64-C360-6D77-B510-96FA4AE38E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CB51AA-FE8C-030D-CCE9-07596E647EFE}"/>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2755449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55007-A1D5-1EE9-EDC3-C6086417EF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1CE2EF-8FB7-9A44-6B55-8C50F2361D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F6309F-0D23-10E0-09A6-50EAEF9CB2CF}"/>
              </a:ext>
            </a:extLst>
          </p:cNvPr>
          <p:cNvSpPr>
            <a:spLocks noGrp="1"/>
          </p:cNvSpPr>
          <p:nvPr>
            <p:ph type="dt" sz="half" idx="10"/>
          </p:nvPr>
        </p:nvSpPr>
        <p:spPr/>
        <p:txBody>
          <a:bodyPr/>
          <a:lstStyle/>
          <a:p>
            <a:fld id="{BC432321-5E54-45C8-B388-004C8845608A}" type="datetimeFigureOut">
              <a:rPr lang="en-IN" smtClean="0"/>
              <a:t>24-02-2026</a:t>
            </a:fld>
            <a:endParaRPr lang="en-IN"/>
          </a:p>
        </p:txBody>
      </p:sp>
      <p:sp>
        <p:nvSpPr>
          <p:cNvPr id="5" name="Footer Placeholder 4">
            <a:extLst>
              <a:ext uri="{FF2B5EF4-FFF2-40B4-BE49-F238E27FC236}">
                <a16:creationId xmlns:a16="http://schemas.microsoft.com/office/drawing/2014/main" id="{C01048D0-AAD0-47F7-EB43-9C138CC9EC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4BFB39-B313-C554-67C8-9894D7D5D5A3}"/>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540076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EDE0B-D0A0-00C6-F26D-C9494DC46D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1580172-32A8-C57B-C988-02D620C4C8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393139-786C-EE1C-A21B-EFA05DE4360E}"/>
              </a:ext>
            </a:extLst>
          </p:cNvPr>
          <p:cNvSpPr>
            <a:spLocks noGrp="1"/>
          </p:cNvSpPr>
          <p:nvPr>
            <p:ph type="dt" sz="half" idx="10"/>
          </p:nvPr>
        </p:nvSpPr>
        <p:spPr/>
        <p:txBody>
          <a:bodyPr/>
          <a:lstStyle/>
          <a:p>
            <a:fld id="{BC432321-5E54-45C8-B388-004C8845608A}" type="datetimeFigureOut">
              <a:rPr lang="en-IN" smtClean="0"/>
              <a:t>24-02-2026</a:t>
            </a:fld>
            <a:endParaRPr lang="en-IN"/>
          </a:p>
        </p:txBody>
      </p:sp>
      <p:sp>
        <p:nvSpPr>
          <p:cNvPr id="5" name="Footer Placeholder 4">
            <a:extLst>
              <a:ext uri="{FF2B5EF4-FFF2-40B4-BE49-F238E27FC236}">
                <a16:creationId xmlns:a16="http://schemas.microsoft.com/office/drawing/2014/main" id="{C6A6832A-032C-1DEA-E466-90FC1288B7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049953-A0BB-7B98-4022-2243E10B9D01}"/>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1697574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86787-E2D2-0AB6-F9FC-A42E368A27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07360E-0586-BEEB-09E0-59BD47A709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0CBF5EA-E80E-53EC-1950-8A9A20D555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E238965-D862-D456-C49D-C59F8CC93CF2}"/>
              </a:ext>
            </a:extLst>
          </p:cNvPr>
          <p:cNvSpPr>
            <a:spLocks noGrp="1"/>
          </p:cNvSpPr>
          <p:nvPr>
            <p:ph type="dt" sz="half" idx="10"/>
          </p:nvPr>
        </p:nvSpPr>
        <p:spPr/>
        <p:txBody>
          <a:bodyPr/>
          <a:lstStyle/>
          <a:p>
            <a:fld id="{BC432321-5E54-45C8-B388-004C8845608A}" type="datetimeFigureOut">
              <a:rPr lang="en-IN" smtClean="0"/>
              <a:t>24-02-2026</a:t>
            </a:fld>
            <a:endParaRPr lang="en-IN"/>
          </a:p>
        </p:txBody>
      </p:sp>
      <p:sp>
        <p:nvSpPr>
          <p:cNvPr id="6" name="Footer Placeholder 5">
            <a:extLst>
              <a:ext uri="{FF2B5EF4-FFF2-40B4-BE49-F238E27FC236}">
                <a16:creationId xmlns:a16="http://schemas.microsoft.com/office/drawing/2014/main" id="{143D33B2-B11E-F7D2-1EEC-02E9EE47A8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3FA5FA-8443-1E8C-D3AA-D44512AFB8C9}"/>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1981649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FAF36-792C-C7E5-2966-629CFD90368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698E14-E4D5-2BAF-A19C-1F6D430566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66F3BE-30BD-1EE5-87D3-B381515BAD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087F795-6B1E-0ACE-1268-CB5642D32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D4673E-EE14-4141-5C98-47CB49917F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845B226-085C-C2B5-A692-A97B3808805B}"/>
              </a:ext>
            </a:extLst>
          </p:cNvPr>
          <p:cNvSpPr>
            <a:spLocks noGrp="1"/>
          </p:cNvSpPr>
          <p:nvPr>
            <p:ph type="dt" sz="half" idx="10"/>
          </p:nvPr>
        </p:nvSpPr>
        <p:spPr/>
        <p:txBody>
          <a:bodyPr/>
          <a:lstStyle/>
          <a:p>
            <a:fld id="{BC432321-5E54-45C8-B388-004C8845608A}" type="datetimeFigureOut">
              <a:rPr lang="en-IN" smtClean="0"/>
              <a:t>24-02-2026</a:t>
            </a:fld>
            <a:endParaRPr lang="en-IN"/>
          </a:p>
        </p:txBody>
      </p:sp>
      <p:sp>
        <p:nvSpPr>
          <p:cNvPr id="8" name="Footer Placeholder 7">
            <a:extLst>
              <a:ext uri="{FF2B5EF4-FFF2-40B4-BE49-F238E27FC236}">
                <a16:creationId xmlns:a16="http://schemas.microsoft.com/office/drawing/2014/main" id="{F70BFB23-CAE7-2B8C-6F33-CF991C423F3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5BBD321-FABE-3EF7-6CF9-1A5D95759892}"/>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2024202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C6477-1BB5-93EB-950A-F6BC2FE806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006DC68-0579-FF39-77DA-01DD82EF011F}"/>
              </a:ext>
            </a:extLst>
          </p:cNvPr>
          <p:cNvSpPr>
            <a:spLocks noGrp="1"/>
          </p:cNvSpPr>
          <p:nvPr>
            <p:ph type="dt" sz="half" idx="10"/>
          </p:nvPr>
        </p:nvSpPr>
        <p:spPr/>
        <p:txBody>
          <a:bodyPr/>
          <a:lstStyle/>
          <a:p>
            <a:fld id="{BC432321-5E54-45C8-B388-004C8845608A}" type="datetimeFigureOut">
              <a:rPr lang="en-IN" smtClean="0"/>
              <a:t>24-02-2026</a:t>
            </a:fld>
            <a:endParaRPr lang="en-IN"/>
          </a:p>
        </p:txBody>
      </p:sp>
      <p:sp>
        <p:nvSpPr>
          <p:cNvPr id="4" name="Footer Placeholder 3">
            <a:extLst>
              <a:ext uri="{FF2B5EF4-FFF2-40B4-BE49-F238E27FC236}">
                <a16:creationId xmlns:a16="http://schemas.microsoft.com/office/drawing/2014/main" id="{3DBAA464-2D31-F560-5539-005D241C23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F14E144-0410-0A7E-5700-871B9A75D934}"/>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1878941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74D1C5-6625-CD9D-F815-62061F2F9C88}"/>
              </a:ext>
            </a:extLst>
          </p:cNvPr>
          <p:cNvSpPr>
            <a:spLocks noGrp="1"/>
          </p:cNvSpPr>
          <p:nvPr>
            <p:ph type="dt" sz="half" idx="10"/>
          </p:nvPr>
        </p:nvSpPr>
        <p:spPr/>
        <p:txBody>
          <a:bodyPr/>
          <a:lstStyle/>
          <a:p>
            <a:fld id="{BC432321-5E54-45C8-B388-004C8845608A}" type="datetimeFigureOut">
              <a:rPr lang="en-IN" smtClean="0"/>
              <a:t>24-02-2026</a:t>
            </a:fld>
            <a:endParaRPr lang="en-IN"/>
          </a:p>
        </p:txBody>
      </p:sp>
      <p:sp>
        <p:nvSpPr>
          <p:cNvPr id="3" name="Footer Placeholder 2">
            <a:extLst>
              <a:ext uri="{FF2B5EF4-FFF2-40B4-BE49-F238E27FC236}">
                <a16:creationId xmlns:a16="http://schemas.microsoft.com/office/drawing/2014/main" id="{115C9632-23C7-6C4E-293A-FEE42386715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C92C17C-AE46-04B4-080C-E7B356319869}"/>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1547633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D0217-B8D9-3A84-2762-6C7C0AB8C6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CC5FD06-C3C9-F5EB-238C-32BEC47B84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EC4CAA4-F528-1AD1-658C-E2E2043F81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63A943-5E5B-6F6E-B45E-E644BFDE287A}"/>
              </a:ext>
            </a:extLst>
          </p:cNvPr>
          <p:cNvSpPr>
            <a:spLocks noGrp="1"/>
          </p:cNvSpPr>
          <p:nvPr>
            <p:ph type="dt" sz="half" idx="10"/>
          </p:nvPr>
        </p:nvSpPr>
        <p:spPr/>
        <p:txBody>
          <a:bodyPr/>
          <a:lstStyle/>
          <a:p>
            <a:fld id="{BC432321-5E54-45C8-B388-004C8845608A}" type="datetimeFigureOut">
              <a:rPr lang="en-IN" smtClean="0"/>
              <a:t>24-02-2026</a:t>
            </a:fld>
            <a:endParaRPr lang="en-IN"/>
          </a:p>
        </p:txBody>
      </p:sp>
      <p:sp>
        <p:nvSpPr>
          <p:cNvPr id="6" name="Footer Placeholder 5">
            <a:extLst>
              <a:ext uri="{FF2B5EF4-FFF2-40B4-BE49-F238E27FC236}">
                <a16:creationId xmlns:a16="http://schemas.microsoft.com/office/drawing/2014/main" id="{A7713B5C-9567-EC13-12E3-38C92FBA4F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3C8D2D-B6AD-6C00-E2C4-BFFAAF085766}"/>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2095416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0C318-4680-C52E-7D3B-2A29EA5703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4FC7EBC-AFFA-9F9C-E3F1-E09185E157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3B02155-646C-E0CE-BC73-3CA93DA284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A8EE8C-1421-FD4E-F1C0-9F9E764A1DE0}"/>
              </a:ext>
            </a:extLst>
          </p:cNvPr>
          <p:cNvSpPr>
            <a:spLocks noGrp="1"/>
          </p:cNvSpPr>
          <p:nvPr>
            <p:ph type="dt" sz="half" idx="10"/>
          </p:nvPr>
        </p:nvSpPr>
        <p:spPr/>
        <p:txBody>
          <a:bodyPr/>
          <a:lstStyle/>
          <a:p>
            <a:fld id="{BC432321-5E54-45C8-B388-004C8845608A}" type="datetimeFigureOut">
              <a:rPr lang="en-IN" smtClean="0"/>
              <a:t>24-02-2026</a:t>
            </a:fld>
            <a:endParaRPr lang="en-IN"/>
          </a:p>
        </p:txBody>
      </p:sp>
      <p:sp>
        <p:nvSpPr>
          <p:cNvPr id="6" name="Footer Placeholder 5">
            <a:extLst>
              <a:ext uri="{FF2B5EF4-FFF2-40B4-BE49-F238E27FC236}">
                <a16:creationId xmlns:a16="http://schemas.microsoft.com/office/drawing/2014/main" id="{C89C2D95-BE1B-A14B-A593-412F903228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AEF920-4E28-0DB5-E638-D80118FC1365}"/>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1529073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1B77D-5C90-8134-5776-25127BDE4B6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68664-7694-87F4-D752-9A1DF91C10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FD2CF9-C9A6-E235-F6E4-DB13CA5071EE}"/>
              </a:ext>
            </a:extLst>
          </p:cNvPr>
          <p:cNvSpPr>
            <a:spLocks noGrp="1"/>
          </p:cNvSpPr>
          <p:nvPr>
            <p:ph type="dt" sz="half" idx="10"/>
          </p:nvPr>
        </p:nvSpPr>
        <p:spPr/>
        <p:txBody>
          <a:bodyPr/>
          <a:lstStyle/>
          <a:p>
            <a:fld id="{BC432321-5E54-45C8-B388-004C8845608A}" type="datetimeFigureOut">
              <a:rPr lang="en-IN" smtClean="0"/>
              <a:t>24-02-2026</a:t>
            </a:fld>
            <a:endParaRPr lang="en-IN"/>
          </a:p>
        </p:txBody>
      </p:sp>
      <p:sp>
        <p:nvSpPr>
          <p:cNvPr id="5" name="Footer Placeholder 4">
            <a:extLst>
              <a:ext uri="{FF2B5EF4-FFF2-40B4-BE49-F238E27FC236}">
                <a16:creationId xmlns:a16="http://schemas.microsoft.com/office/drawing/2014/main" id="{A89329B3-1F54-C701-5CAA-BAB84BAE96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FF32BA-6F57-167B-9D15-7A477AE2C42E}"/>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1782521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907058-88AC-0C5C-49A9-D757E03BB2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A95C8B-64AF-EB73-C048-3523984578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B92564-4600-6EDB-4E6A-B016346032CD}"/>
              </a:ext>
            </a:extLst>
          </p:cNvPr>
          <p:cNvSpPr>
            <a:spLocks noGrp="1"/>
          </p:cNvSpPr>
          <p:nvPr>
            <p:ph type="dt" sz="half" idx="10"/>
          </p:nvPr>
        </p:nvSpPr>
        <p:spPr/>
        <p:txBody>
          <a:bodyPr/>
          <a:lstStyle/>
          <a:p>
            <a:fld id="{BC432321-5E54-45C8-B388-004C8845608A}" type="datetimeFigureOut">
              <a:rPr lang="en-IN" smtClean="0"/>
              <a:t>24-02-2026</a:t>
            </a:fld>
            <a:endParaRPr lang="en-IN"/>
          </a:p>
        </p:txBody>
      </p:sp>
      <p:sp>
        <p:nvSpPr>
          <p:cNvPr id="5" name="Footer Placeholder 4">
            <a:extLst>
              <a:ext uri="{FF2B5EF4-FFF2-40B4-BE49-F238E27FC236}">
                <a16:creationId xmlns:a16="http://schemas.microsoft.com/office/drawing/2014/main" id="{F4F58C57-9750-9C36-1994-912459B4FB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A41B9B-5C61-F3F4-81DB-015E14565087}"/>
              </a:ext>
            </a:extLst>
          </p:cNvPr>
          <p:cNvSpPr>
            <a:spLocks noGrp="1"/>
          </p:cNvSpPr>
          <p:nvPr>
            <p:ph type="sldNum" sz="quarter" idx="12"/>
          </p:nvPr>
        </p:nvSpPr>
        <p:spPr/>
        <p:txBody>
          <a:bodyPr/>
          <a:lstStyle/>
          <a:p>
            <a:fld id="{00382E31-2EFD-44DA-888E-49DE08FD1A32}" type="slidenum">
              <a:rPr lang="en-IN" smtClean="0"/>
              <a:t>‹#›</a:t>
            </a:fld>
            <a:endParaRPr lang="en-IN"/>
          </a:p>
        </p:txBody>
      </p:sp>
    </p:spTree>
    <p:extLst>
      <p:ext uri="{BB962C8B-B14F-4D97-AF65-F5344CB8AC3E}">
        <p14:creationId xmlns:p14="http://schemas.microsoft.com/office/powerpoint/2010/main" val="4235453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3BFD9F-EEA2-7815-27FB-22E4394E5B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76146F7-F1B5-A224-47AF-2880B8EDEA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FFE741-5631-1E22-12C6-EE82EC5BD5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432321-5E54-45C8-B388-004C8845608A}" type="datetimeFigureOut">
              <a:rPr lang="en-IN" smtClean="0"/>
              <a:t>24-02-2026</a:t>
            </a:fld>
            <a:endParaRPr lang="en-IN"/>
          </a:p>
        </p:txBody>
      </p:sp>
      <p:sp>
        <p:nvSpPr>
          <p:cNvPr id="5" name="Footer Placeholder 4">
            <a:extLst>
              <a:ext uri="{FF2B5EF4-FFF2-40B4-BE49-F238E27FC236}">
                <a16:creationId xmlns:a16="http://schemas.microsoft.com/office/drawing/2014/main" id="{F1D5134B-FBBC-275B-2203-CF2A7D8BF5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EFB0D0A-814A-2CBE-1209-511636EA77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382E31-2EFD-44DA-888E-49DE08FD1A32}" type="slidenum">
              <a:rPr lang="en-IN" smtClean="0"/>
              <a:t>‹#›</a:t>
            </a:fld>
            <a:endParaRPr lang="en-IN"/>
          </a:p>
        </p:txBody>
      </p:sp>
    </p:spTree>
    <p:extLst>
      <p:ext uri="{BB962C8B-B14F-4D97-AF65-F5344CB8AC3E}">
        <p14:creationId xmlns:p14="http://schemas.microsoft.com/office/powerpoint/2010/main" val="8732474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C7F08-9746-AF7A-3EB8-120EC3C411B1}"/>
              </a:ext>
            </a:extLst>
          </p:cNvPr>
          <p:cNvSpPr>
            <a:spLocks noGrp="1"/>
          </p:cNvSpPr>
          <p:nvPr>
            <p:ph type="ctrTitle"/>
          </p:nvPr>
        </p:nvSpPr>
        <p:spPr>
          <a:xfrm>
            <a:off x="1109932" y="-838709"/>
            <a:ext cx="9144000" cy="2387600"/>
          </a:xfrm>
        </p:spPr>
        <p:txBody>
          <a:bodyPr>
            <a:normAutofit fontScale="90000"/>
          </a:bodyPr>
          <a:lstStyle/>
          <a:p>
            <a:br>
              <a:rPr lang="en-US" dirty="0"/>
            </a:br>
            <a:br>
              <a:rPr lang="en-US" dirty="0"/>
            </a:br>
            <a:br>
              <a:rPr lang="en-US" dirty="0"/>
            </a:br>
            <a:br>
              <a:rPr lang="en-US" dirty="0"/>
            </a:br>
            <a:r>
              <a:rPr lang="en-US" dirty="0" err="1"/>
              <a:t>Reciept</a:t>
            </a:r>
            <a:r>
              <a:rPr lang="en-US" dirty="0"/>
              <a:t> and Invoice Digitizer</a:t>
            </a:r>
            <a:endParaRPr lang="en-IN" dirty="0"/>
          </a:p>
        </p:txBody>
      </p:sp>
      <p:sp>
        <p:nvSpPr>
          <p:cNvPr id="3" name="Subtitle 2">
            <a:extLst>
              <a:ext uri="{FF2B5EF4-FFF2-40B4-BE49-F238E27FC236}">
                <a16:creationId xmlns:a16="http://schemas.microsoft.com/office/drawing/2014/main" id="{18FCF334-C091-AAAD-65E9-62EF23F9A2C7}"/>
              </a:ext>
            </a:extLst>
          </p:cNvPr>
          <p:cNvSpPr>
            <a:spLocks noGrp="1"/>
          </p:cNvSpPr>
          <p:nvPr>
            <p:ph type="subTitle" idx="1"/>
          </p:nvPr>
        </p:nvSpPr>
        <p:spPr>
          <a:xfrm>
            <a:off x="46007" y="1548891"/>
            <a:ext cx="10627743" cy="5509403"/>
          </a:xfrm>
        </p:spPr>
        <p:txBody>
          <a:bodyPr/>
          <a:lstStyle/>
          <a:p>
            <a:r>
              <a:rPr lang="en-US" sz="4000" dirty="0"/>
              <a:t>Team-C</a:t>
            </a:r>
          </a:p>
          <a:p>
            <a:r>
              <a:rPr lang="en-US" sz="4000" dirty="0"/>
              <a:t>Team members:</a:t>
            </a:r>
          </a:p>
          <a:p>
            <a:r>
              <a:rPr lang="en-US" sz="4000" dirty="0"/>
              <a:t>Snehitha</a:t>
            </a:r>
          </a:p>
          <a:p>
            <a:r>
              <a:rPr lang="en-US" sz="4000" dirty="0"/>
              <a:t>Pranavi</a:t>
            </a:r>
          </a:p>
          <a:p>
            <a:r>
              <a:rPr lang="en-US" sz="4000" dirty="0"/>
              <a:t>Manjunath</a:t>
            </a:r>
          </a:p>
          <a:p>
            <a:r>
              <a:rPr lang="en-US" sz="4000" dirty="0"/>
              <a:t>Gnana Pravallika</a:t>
            </a:r>
          </a:p>
          <a:p>
            <a:r>
              <a:rPr lang="en-US" sz="4000" dirty="0"/>
              <a:t>Gayatri</a:t>
            </a:r>
          </a:p>
          <a:p>
            <a:endParaRPr lang="en-US" sz="4000" dirty="0"/>
          </a:p>
          <a:p>
            <a:endParaRPr lang="en-US" sz="4000" dirty="0"/>
          </a:p>
          <a:p>
            <a:endParaRPr lang="en-US" sz="4000" dirty="0"/>
          </a:p>
          <a:p>
            <a:endParaRPr lang="en-US" sz="4000" dirty="0"/>
          </a:p>
          <a:p>
            <a:endParaRPr lang="en-US" dirty="0"/>
          </a:p>
          <a:p>
            <a:endParaRPr lang="en-IN" dirty="0"/>
          </a:p>
        </p:txBody>
      </p:sp>
    </p:spTree>
    <p:extLst>
      <p:ext uri="{BB962C8B-B14F-4D97-AF65-F5344CB8AC3E}">
        <p14:creationId xmlns:p14="http://schemas.microsoft.com/office/powerpoint/2010/main" val="1717121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3737F-31EE-068E-00F8-C3DB0B22EB58}"/>
              </a:ext>
            </a:extLst>
          </p:cNvPr>
          <p:cNvSpPr>
            <a:spLocks noGrp="1"/>
          </p:cNvSpPr>
          <p:nvPr>
            <p:ph type="title"/>
          </p:nvPr>
        </p:nvSpPr>
        <p:spPr>
          <a:xfrm>
            <a:off x="1000125" y="204049"/>
            <a:ext cx="13173075" cy="1325563"/>
          </a:xfrm>
        </p:spPr>
        <p:txBody>
          <a:bodyPr/>
          <a:lstStyle/>
          <a:p>
            <a:r>
              <a:rPr lang="en-US" dirty="0"/>
              <a:t>                             Abstract</a:t>
            </a:r>
            <a:br>
              <a:rPr lang="en-US" dirty="0"/>
            </a:br>
            <a:endParaRPr lang="en-IN" dirty="0"/>
          </a:p>
        </p:txBody>
      </p:sp>
      <p:sp>
        <p:nvSpPr>
          <p:cNvPr id="4" name="Rectangle 1">
            <a:extLst>
              <a:ext uri="{FF2B5EF4-FFF2-40B4-BE49-F238E27FC236}">
                <a16:creationId xmlns:a16="http://schemas.microsoft.com/office/drawing/2014/main" id="{2FD5AB31-89BE-BAED-79B0-29A48CD8B541}"/>
              </a:ext>
            </a:extLst>
          </p:cNvPr>
          <p:cNvSpPr>
            <a:spLocks noChangeArrowheads="1"/>
          </p:cNvSpPr>
          <p:nvPr/>
        </p:nvSpPr>
        <p:spPr bwMode="auto">
          <a:xfrm>
            <a:off x="0" y="-3141541"/>
            <a:ext cx="184731"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p:txBody>
      </p:sp>
      <p:sp>
        <p:nvSpPr>
          <p:cNvPr id="6" name="Rectangle 3">
            <a:extLst>
              <a:ext uri="{FF2B5EF4-FFF2-40B4-BE49-F238E27FC236}">
                <a16:creationId xmlns:a16="http://schemas.microsoft.com/office/drawing/2014/main" id="{CD0AEDEC-01D9-43C9-CEE4-C5913F3CC24A}"/>
              </a:ext>
            </a:extLst>
          </p:cNvPr>
          <p:cNvSpPr>
            <a:spLocks noChangeArrowheads="1"/>
          </p:cNvSpPr>
          <p:nvPr/>
        </p:nvSpPr>
        <p:spPr bwMode="auto">
          <a:xfrm>
            <a:off x="557841" y="1483305"/>
            <a:ext cx="10872159"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t>The </a:t>
            </a:r>
            <a:r>
              <a:rPr lang="en-US" sz="2000" i="1" dirty="0"/>
              <a:t>Receipt &amp; Invoice Digitizer </a:t>
            </a:r>
            <a:r>
              <a:rPr lang="en-US" sz="2000" dirty="0"/>
              <a:t>is a digital platform designed to simplify the management of financial receipts and invoices through automation and intelligent processing. In everyday business and personal finance, large volumes of paper and digital bills are generated, making manual organization difficult, time-consuming, and prone to errors. This project aims to provide a unified system where users can securely access, manage, and process their receipts in a structured manner.</a:t>
            </a:r>
          </a:p>
          <a:p>
            <a:r>
              <a:rPr lang="en-US" sz="2000" dirty="0"/>
              <a:t>The application provides a user-friendly interface consisting of authentication and dashboard modules that enable users to register, log in, and navigate the system efficiently. The platform is designed with a modular architecture so that advanced features such as document upload, Optical Character Recognition (OCR), and AI-based data extraction can be seamlessly integrated. Emphasis is placed on responsive design, input validation, and smooth user experience to ensure accessibility across devices.</a:t>
            </a:r>
          </a:p>
          <a:p>
            <a:r>
              <a:rPr lang="en-US" sz="2000" dirty="0"/>
              <a:t>By automating receipt handling and enabling digital record maintenance, </a:t>
            </a:r>
            <a:r>
              <a:rPr lang="en-US" sz="2000" dirty="0" err="1"/>
              <a:t>MydigiBill</a:t>
            </a:r>
            <a:r>
              <a:rPr lang="en-US" sz="2000" dirty="0"/>
              <a:t> reduces manual effort, improves accuracy, and supports better financial tracking. The project lays the foundation for future enhancements including intelligent expense categorization, analytics, and secure storage, ultimately helping users transition from paper-based billing to an organized digital ecosystem.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67228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51E72-7E18-722D-BC62-15C031B3641B}"/>
              </a:ext>
            </a:extLst>
          </p:cNvPr>
          <p:cNvSpPr>
            <a:spLocks noGrp="1"/>
          </p:cNvSpPr>
          <p:nvPr>
            <p:ph type="title"/>
          </p:nvPr>
        </p:nvSpPr>
        <p:spPr>
          <a:xfrm>
            <a:off x="759542" y="709254"/>
            <a:ext cx="10515600" cy="1325563"/>
          </a:xfrm>
        </p:spPr>
        <p:txBody>
          <a:bodyPr>
            <a:normAutofit/>
          </a:bodyPr>
          <a:lstStyle/>
          <a:p>
            <a:pPr algn="ctr"/>
            <a:r>
              <a:rPr lang="en-US" b="1" dirty="0"/>
              <a:t>Milestone 2 : OCR Integration Task</a:t>
            </a:r>
            <a:br>
              <a:rPr lang="en-US" b="1" dirty="0"/>
            </a:br>
            <a:endParaRPr lang="en-IN" dirty="0"/>
          </a:p>
        </p:txBody>
      </p:sp>
      <p:sp>
        <p:nvSpPr>
          <p:cNvPr id="4" name="TextBox 3">
            <a:extLst>
              <a:ext uri="{FF2B5EF4-FFF2-40B4-BE49-F238E27FC236}">
                <a16:creationId xmlns:a16="http://schemas.microsoft.com/office/drawing/2014/main" id="{7DB9FAC8-6831-8277-347D-52E69A2C2625}"/>
              </a:ext>
            </a:extLst>
          </p:cNvPr>
          <p:cNvSpPr txBox="1"/>
          <p:nvPr/>
        </p:nvSpPr>
        <p:spPr>
          <a:xfrm>
            <a:off x="916858" y="1690688"/>
            <a:ext cx="10515600" cy="461985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b="1" dirty="0"/>
              <a:t>File Ingestion:</a:t>
            </a:r>
            <a:r>
              <a:rPr lang="en-IN" dirty="0"/>
              <a:t> Supports high-resolution images (PNG, JPG) and multi-page PDF documents.</a:t>
            </a:r>
          </a:p>
          <a:p>
            <a:pPr marL="285750" indent="-285750">
              <a:lnSpc>
                <a:spcPct val="150000"/>
              </a:lnSpc>
              <a:buFont typeface="Arial" panose="020B0604020202020204" pitchFamily="34" charset="0"/>
              <a:buChar char="•"/>
            </a:pPr>
            <a:r>
              <a:rPr lang="en-IN" b="1" dirty="0"/>
              <a:t>Intelligent Preprocessing:</a:t>
            </a:r>
            <a:r>
              <a:rPr lang="en-IN" dirty="0"/>
              <a:t> Automated grayscale conversion and thresholding (Otsu’s method) to enhance text contrast for better accuracy.</a:t>
            </a:r>
          </a:p>
          <a:p>
            <a:pPr marL="285750" indent="-285750">
              <a:lnSpc>
                <a:spcPct val="150000"/>
              </a:lnSpc>
              <a:buFont typeface="Arial" panose="020B0604020202020204" pitchFamily="34" charset="0"/>
              <a:buChar char="•"/>
            </a:pPr>
            <a:r>
              <a:rPr lang="en-IN" b="1" dirty="0"/>
              <a:t>OCR Core Integration:</a:t>
            </a:r>
            <a:r>
              <a:rPr lang="en-IN" dirty="0"/>
              <a:t> Leverages Tesseract engine to convert visual patterns into searchable, machine-readable text.</a:t>
            </a:r>
          </a:p>
          <a:p>
            <a:pPr marL="285750" indent="-285750">
              <a:lnSpc>
                <a:spcPct val="150000"/>
              </a:lnSpc>
              <a:buFont typeface="Arial" panose="020B0604020202020204" pitchFamily="34" charset="0"/>
              <a:buChar char="•"/>
            </a:pPr>
            <a:r>
              <a:rPr lang="en-IN" b="1" dirty="0"/>
              <a:t>Rule-Based Parsing:</a:t>
            </a:r>
            <a:r>
              <a:rPr lang="en-IN" dirty="0"/>
              <a:t> Implementation of advanced Regular Expressions (Regex) to programmatically identify and extract critical fields:</a:t>
            </a:r>
          </a:p>
          <a:p>
            <a:pPr marL="742950" lvl="1" indent="-285750">
              <a:lnSpc>
                <a:spcPct val="150000"/>
              </a:lnSpc>
              <a:buFont typeface="Arial" panose="020B0604020202020204" pitchFamily="34" charset="0"/>
              <a:buChar char="•"/>
            </a:pPr>
            <a:r>
              <a:rPr lang="en-IN" b="1" dirty="0"/>
              <a:t>Vendor Identification:</a:t>
            </a:r>
            <a:r>
              <a:rPr lang="en-IN" dirty="0"/>
              <a:t> Intelligent heuristic analysis of document headers.</a:t>
            </a:r>
          </a:p>
          <a:p>
            <a:pPr marL="742950" lvl="1" indent="-285750">
              <a:lnSpc>
                <a:spcPct val="150000"/>
              </a:lnSpc>
              <a:buFont typeface="Arial" panose="020B0604020202020204" pitchFamily="34" charset="0"/>
              <a:buChar char="•"/>
            </a:pPr>
            <a:r>
              <a:rPr lang="en-IN" b="1" dirty="0"/>
              <a:t>Date Normalization:</a:t>
            </a:r>
            <a:r>
              <a:rPr lang="en-IN" dirty="0"/>
              <a:t> Detection of multiple formats (e.g.,  DD/MM/YYYY , MM-DD-YYYY).</a:t>
            </a:r>
          </a:p>
          <a:p>
            <a:pPr marL="742950" lvl="1" indent="-285750">
              <a:lnSpc>
                <a:spcPct val="150000"/>
              </a:lnSpc>
              <a:buFont typeface="Arial" panose="020B0604020202020204" pitchFamily="34" charset="0"/>
              <a:buChar char="•"/>
            </a:pPr>
            <a:r>
              <a:rPr lang="en-IN" b="1" dirty="0"/>
              <a:t>Financial Extraction:</a:t>
            </a:r>
            <a:r>
              <a:rPr lang="en-IN" dirty="0"/>
              <a:t> Precise extraction of 'Total Amounts' and currency symbols.</a:t>
            </a:r>
          </a:p>
          <a:p>
            <a:pPr marL="285750" indent="-285750">
              <a:lnSpc>
                <a:spcPct val="150000"/>
              </a:lnSpc>
              <a:buFont typeface="Arial" panose="020B0604020202020204" pitchFamily="34" charset="0"/>
              <a:buChar char="•"/>
            </a:pPr>
            <a:endParaRPr lang="en-IN" dirty="0"/>
          </a:p>
        </p:txBody>
      </p:sp>
    </p:spTree>
    <p:extLst>
      <p:ext uri="{BB962C8B-B14F-4D97-AF65-F5344CB8AC3E}">
        <p14:creationId xmlns:p14="http://schemas.microsoft.com/office/powerpoint/2010/main" val="2841094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AA77F-3FC1-C0A2-2EB1-9B96DBFCF08E}"/>
              </a:ext>
            </a:extLst>
          </p:cNvPr>
          <p:cNvSpPr>
            <a:spLocks noGrp="1"/>
          </p:cNvSpPr>
          <p:nvPr>
            <p:ph type="title"/>
          </p:nvPr>
        </p:nvSpPr>
        <p:spPr>
          <a:xfrm>
            <a:off x="4144992" y="94831"/>
            <a:ext cx="3423880" cy="1325563"/>
          </a:xfrm>
        </p:spPr>
        <p:txBody>
          <a:bodyPr/>
          <a:lstStyle/>
          <a:p>
            <a:r>
              <a:rPr lang="en-US" dirty="0"/>
              <a:t>Tech stack </a:t>
            </a:r>
            <a:endParaRPr lang="en-IN" dirty="0"/>
          </a:p>
        </p:txBody>
      </p:sp>
      <p:sp>
        <p:nvSpPr>
          <p:cNvPr id="4" name="Rectangle 1">
            <a:extLst>
              <a:ext uri="{FF2B5EF4-FFF2-40B4-BE49-F238E27FC236}">
                <a16:creationId xmlns:a16="http://schemas.microsoft.com/office/drawing/2014/main" id="{13B53A69-EF7F-C05E-971C-6ABF812F82A8}"/>
              </a:ext>
            </a:extLst>
          </p:cNvPr>
          <p:cNvSpPr>
            <a:spLocks noGrp="1" noChangeArrowheads="1"/>
          </p:cNvSpPr>
          <p:nvPr>
            <p:ph idx="1"/>
          </p:nvPr>
        </p:nvSpPr>
        <p:spPr bwMode="auto">
          <a:xfrm>
            <a:off x="1171755" y="1118081"/>
            <a:ext cx="9840374" cy="5294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IN" sz="2000" b="1" dirty="0">
                <a:latin typeface="Times New Roman" panose="02020603050405020304" pitchFamily="18" charset="0"/>
                <a:cs typeface="Times New Roman" panose="02020603050405020304" pitchFamily="18" charset="0"/>
              </a:rPr>
              <a:t>Backend Framework:</a:t>
            </a:r>
            <a:r>
              <a:rPr lang="en-IN" sz="2000" dirty="0">
                <a:latin typeface="Times New Roman" panose="02020603050405020304" pitchFamily="18" charset="0"/>
                <a:cs typeface="Times New Roman" panose="02020603050405020304" pitchFamily="18" charset="0"/>
              </a:rPr>
              <a:t>  Flask (Python) - Lightweight and scalable web server integration.</a:t>
            </a:r>
          </a:p>
          <a:p>
            <a:pPr algn="just">
              <a:lnSpc>
                <a:spcPct val="150000"/>
              </a:lnSpc>
            </a:pPr>
            <a:r>
              <a:rPr lang="en-IN" sz="2000" b="1" dirty="0">
                <a:latin typeface="Times New Roman" panose="02020603050405020304" pitchFamily="18" charset="0"/>
                <a:cs typeface="Times New Roman" panose="02020603050405020304" pitchFamily="18" charset="0"/>
              </a:rPr>
              <a:t>OCR Engine:</a:t>
            </a:r>
            <a:r>
              <a:rPr lang="en-IN" sz="2000" dirty="0">
                <a:latin typeface="Times New Roman" panose="02020603050405020304" pitchFamily="18" charset="0"/>
                <a:cs typeface="Times New Roman" panose="02020603050405020304" pitchFamily="18" charset="0"/>
              </a:rPr>
              <a:t> Tesseract OCR - Industry-standard engine for printed text recognition.</a:t>
            </a:r>
          </a:p>
          <a:p>
            <a:pPr algn="just">
              <a:lnSpc>
                <a:spcPct val="150000"/>
              </a:lnSpc>
            </a:pPr>
            <a:r>
              <a:rPr lang="en-IN" sz="2000" b="1" dirty="0">
                <a:latin typeface="Times New Roman" panose="02020603050405020304" pitchFamily="18" charset="0"/>
                <a:cs typeface="Times New Roman" panose="02020603050405020304" pitchFamily="18" charset="0"/>
              </a:rPr>
              <a:t>Computer Vision:</a:t>
            </a:r>
            <a:r>
              <a:rPr lang="en-IN" sz="2000" dirty="0">
                <a:latin typeface="Times New Roman" panose="02020603050405020304" pitchFamily="18" charset="0"/>
                <a:cs typeface="Times New Roman" panose="02020603050405020304" pitchFamily="18" charset="0"/>
              </a:rPr>
              <a:t> OpenCV - Used for image enhancement, noise reduction, and binarization.</a:t>
            </a:r>
          </a:p>
          <a:p>
            <a:pPr algn="just">
              <a:lnSpc>
                <a:spcPct val="150000"/>
              </a:lnSpc>
            </a:pPr>
            <a:r>
              <a:rPr lang="en-IN" sz="2000" b="1" dirty="0">
                <a:latin typeface="Times New Roman" panose="02020603050405020304" pitchFamily="18" charset="0"/>
                <a:cs typeface="Times New Roman" panose="02020603050405020304" pitchFamily="18" charset="0"/>
              </a:rPr>
              <a:t>Document Processing:</a:t>
            </a:r>
            <a:r>
              <a:rPr lang="en-IN" sz="2000" dirty="0">
                <a:latin typeface="Times New Roman" panose="02020603050405020304" pitchFamily="18" charset="0"/>
                <a:cs typeface="Times New Roman" panose="02020603050405020304" pitchFamily="18" charset="0"/>
              </a:rPr>
              <a:t> pdf2image &amp; Pillow (PIL) - Seamless transformation of PDFs into processable image frames.</a:t>
            </a:r>
          </a:p>
          <a:p>
            <a:pPr algn="just">
              <a:lnSpc>
                <a:spcPct val="150000"/>
              </a:lnSpc>
            </a:pPr>
            <a:r>
              <a:rPr lang="en-IN" sz="2000" b="1" dirty="0">
                <a:latin typeface="Times New Roman" panose="02020603050405020304" pitchFamily="18" charset="0"/>
                <a:cs typeface="Times New Roman" panose="02020603050405020304" pitchFamily="18" charset="0"/>
              </a:rPr>
              <a:t>Data Analysis:</a:t>
            </a:r>
            <a:r>
              <a:rPr lang="en-IN" sz="2000" dirty="0">
                <a:latin typeface="Times New Roman" panose="02020603050405020304" pitchFamily="18" charset="0"/>
                <a:cs typeface="Times New Roman" panose="02020603050405020304" pitchFamily="18" charset="0"/>
              </a:rPr>
              <a:t> Pandas - Facilitates structured data management and automated CSV report generation.</a:t>
            </a:r>
          </a:p>
          <a:p>
            <a:pPr algn="just">
              <a:lnSpc>
                <a:spcPct val="150000"/>
              </a:lnSpc>
            </a:pPr>
            <a:r>
              <a:rPr lang="en-IN" sz="2000" b="1" dirty="0">
                <a:latin typeface="Times New Roman" panose="02020603050405020304" pitchFamily="18" charset="0"/>
                <a:cs typeface="Times New Roman" panose="02020603050405020304" pitchFamily="18" charset="0"/>
              </a:rPr>
              <a:t>Interface:</a:t>
            </a:r>
            <a:r>
              <a:rPr lang="en-IN" sz="2000" dirty="0">
                <a:latin typeface="Times New Roman" panose="02020603050405020304" pitchFamily="18" charset="0"/>
                <a:cs typeface="Times New Roman" panose="02020603050405020304" pitchFamily="18" charset="0"/>
              </a:rPr>
              <a:t> HTML5/CSS3 - User-friendly dashboard for document upload and real-time verification.</a:t>
            </a:r>
          </a:p>
        </p:txBody>
      </p:sp>
    </p:spTree>
    <p:extLst>
      <p:ext uri="{BB962C8B-B14F-4D97-AF65-F5344CB8AC3E}">
        <p14:creationId xmlns:p14="http://schemas.microsoft.com/office/powerpoint/2010/main" val="269608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086D0D2-E856-8931-C4A1-A21094A9E5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55911" y="1068541"/>
            <a:ext cx="8880177" cy="4351338"/>
          </a:xfrm>
          <a:prstGeom prst="rect">
            <a:avLst/>
          </a:prstGeom>
        </p:spPr>
      </p:pic>
    </p:spTree>
    <p:extLst>
      <p:ext uri="{BB962C8B-B14F-4D97-AF65-F5344CB8AC3E}">
        <p14:creationId xmlns:p14="http://schemas.microsoft.com/office/powerpoint/2010/main" val="3884369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D5008-2542-0341-05E8-0D2813B9C64F}"/>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2ED76B8-FC6B-1317-E056-6D368F6D9BE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7016" y="1455174"/>
            <a:ext cx="9317967" cy="4721789"/>
          </a:xfrm>
          <a:prstGeom prst="rect">
            <a:avLst/>
          </a:prstGeom>
        </p:spPr>
      </p:pic>
    </p:spTree>
    <p:extLst>
      <p:ext uri="{BB962C8B-B14F-4D97-AF65-F5344CB8AC3E}">
        <p14:creationId xmlns:p14="http://schemas.microsoft.com/office/powerpoint/2010/main" val="1975023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7C0303C-D25D-3156-758E-B7C913AF45A6}"/>
              </a:ext>
            </a:extLst>
          </p:cNvPr>
          <p:cNvSpPr>
            <a:spLocks noChangeArrowheads="1"/>
          </p:cNvSpPr>
          <p:nvPr/>
        </p:nvSpPr>
        <p:spPr bwMode="auto">
          <a:xfrm>
            <a:off x="1046671" y="454260"/>
            <a:ext cx="10490179"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latin typeface="Arial" panose="020B0604020202020204" pitchFamily="34" charset="0"/>
              </a:rPr>
              <a:t>                    Future Enhancements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 Implement AI-Based Field Extraction (Store Name, Date, Total, Tax, Items)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Develop Intelligent Expense Categorization using LLM models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Add Multi-Page PDF Processing Support</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Improve OCR Accuracy using Deep Learning-based OCR engines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Implement Confidence Scoring &amp; Auto-Correction Mechanism</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Build Structured Database Storage for Extracted Data</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Develop Expense Analytics Dashboard &amp; Visualization</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Add Receipt Search using Semantic Embeddings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Enable Cloud Deployment &amp; Scalable Storage</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Develop Mobile Application Integration</a:t>
            </a:r>
          </a:p>
        </p:txBody>
      </p:sp>
    </p:spTree>
    <p:extLst>
      <p:ext uri="{BB962C8B-B14F-4D97-AF65-F5344CB8AC3E}">
        <p14:creationId xmlns:p14="http://schemas.microsoft.com/office/powerpoint/2010/main" val="3295287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08049-85B2-28E4-0A43-FDECC6DB4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97583B-379A-7270-9AC8-9B73A6411373}"/>
              </a:ext>
            </a:extLst>
          </p:cNvPr>
          <p:cNvSpPr>
            <a:spLocks noGrp="1"/>
          </p:cNvSpPr>
          <p:nvPr>
            <p:ph type="title"/>
          </p:nvPr>
        </p:nvSpPr>
        <p:spPr>
          <a:xfrm>
            <a:off x="759542" y="709254"/>
            <a:ext cx="10515600" cy="1325563"/>
          </a:xfrm>
        </p:spPr>
        <p:txBody>
          <a:bodyPr>
            <a:normAutofit/>
          </a:bodyPr>
          <a:lstStyle/>
          <a:p>
            <a:pPr algn="ctr"/>
            <a:r>
              <a:rPr lang="en-US" b="1" dirty="0"/>
              <a:t>Conclusion</a:t>
            </a:r>
            <a:endParaRPr lang="en-IN" dirty="0"/>
          </a:p>
        </p:txBody>
      </p:sp>
      <p:sp>
        <p:nvSpPr>
          <p:cNvPr id="4" name="TextBox 3">
            <a:extLst>
              <a:ext uri="{FF2B5EF4-FFF2-40B4-BE49-F238E27FC236}">
                <a16:creationId xmlns:a16="http://schemas.microsoft.com/office/drawing/2014/main" id="{BC40902F-6400-55E5-D53C-47C3318D7E23}"/>
              </a:ext>
            </a:extLst>
          </p:cNvPr>
          <p:cNvSpPr txBox="1"/>
          <p:nvPr/>
        </p:nvSpPr>
        <p:spPr>
          <a:xfrm>
            <a:off x="838200" y="2034817"/>
            <a:ext cx="10515600" cy="2957861"/>
          </a:xfrm>
          <a:prstGeom prst="rect">
            <a:avLst/>
          </a:prstGeom>
          <a:noFill/>
        </p:spPr>
        <p:txBody>
          <a:bodyPr wrap="square" rtlCol="0">
            <a:spAutoFit/>
          </a:bodyPr>
          <a:lstStyle/>
          <a:p>
            <a:pPr>
              <a:lnSpc>
                <a:spcPct val="150000"/>
              </a:lnSpc>
            </a:pPr>
            <a:r>
              <a:rPr lang="en-US" dirty="0"/>
              <a:t>Milestone 2 Progress Summary </a:t>
            </a:r>
            <a:r>
              <a:rPr lang="en-US" b="1" dirty="0"/>
              <a:t>Achieved a functional 25% prototype that validates the core business logic:</a:t>
            </a:r>
            <a:endParaRPr lang="en-US" dirty="0"/>
          </a:p>
          <a:p>
            <a:pPr marL="285750" indent="-285750">
              <a:lnSpc>
                <a:spcPct val="150000"/>
              </a:lnSpc>
              <a:buFont typeface="Arial" panose="020B0604020202020204" pitchFamily="34" charset="0"/>
              <a:buChar char="•"/>
            </a:pPr>
            <a:r>
              <a:rPr lang="en-US" b="1" dirty="0"/>
              <a:t>Proof of Concept:</a:t>
            </a:r>
            <a:r>
              <a:rPr lang="en-US" dirty="0"/>
              <a:t> Demonstrated successful end-to-end flow from document upload to structured CSV export.</a:t>
            </a:r>
          </a:p>
          <a:p>
            <a:pPr marL="285750" indent="-285750">
              <a:lnSpc>
                <a:spcPct val="150000"/>
              </a:lnSpc>
              <a:buFont typeface="Arial" panose="020B0604020202020204" pitchFamily="34" charset="0"/>
              <a:buChar char="•"/>
            </a:pPr>
            <a:r>
              <a:rPr lang="en-US" b="1" dirty="0"/>
              <a:t>Efficiency Gains:</a:t>
            </a:r>
            <a:r>
              <a:rPr lang="en-US" dirty="0"/>
              <a:t> Reduced manual data entry time by an estimated </a:t>
            </a:r>
            <a:r>
              <a:rPr lang="en-US" b="1" dirty="0"/>
              <a:t>80%</a:t>
            </a:r>
            <a:r>
              <a:rPr lang="en-US" dirty="0"/>
              <a:t> for supported document formats.</a:t>
            </a:r>
          </a:p>
          <a:p>
            <a:pPr marL="285750" indent="-285750">
              <a:lnSpc>
                <a:spcPct val="150000"/>
              </a:lnSpc>
              <a:buFont typeface="Arial" panose="020B0604020202020204" pitchFamily="34" charset="0"/>
              <a:buChar char="•"/>
            </a:pPr>
            <a:r>
              <a:rPr lang="en-US" b="1" dirty="0"/>
              <a:t>Modular Design:</a:t>
            </a:r>
            <a:r>
              <a:rPr lang="en-US" dirty="0"/>
              <a:t> Built a flexible architecture that allows for easy swapping of the OCR engine or parsing logic as the project scales.</a:t>
            </a:r>
          </a:p>
          <a:p>
            <a:pPr marL="285750" indent="-285750">
              <a:lnSpc>
                <a:spcPct val="150000"/>
              </a:lnSpc>
              <a:buFont typeface="Arial" panose="020B0604020202020204" pitchFamily="34" charset="0"/>
              <a:buChar char="•"/>
            </a:pPr>
            <a:r>
              <a:rPr lang="en-US" b="1" dirty="0"/>
              <a:t>Reliability:</a:t>
            </a:r>
            <a:r>
              <a:rPr lang="en-US" dirty="0"/>
              <a:t> Established a baseline for preprocessing that handles varying lighting and document quality.</a:t>
            </a:r>
          </a:p>
        </p:txBody>
      </p:sp>
    </p:spTree>
    <p:extLst>
      <p:ext uri="{BB962C8B-B14F-4D97-AF65-F5344CB8AC3E}">
        <p14:creationId xmlns:p14="http://schemas.microsoft.com/office/powerpoint/2010/main" val="178498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636</Words>
  <Application>Microsoft Office PowerPoint</Application>
  <PresentationFormat>Widescreen</PresentationFormat>
  <Paragraphs>62</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    Reciept and Invoice Digitizer</vt:lpstr>
      <vt:lpstr>                             Abstract </vt:lpstr>
      <vt:lpstr>Milestone 2 : OCR Integration Task </vt:lpstr>
      <vt:lpstr>Tech stack </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Sarala Sai</dc:creator>
  <cp:lastModifiedBy>Bharath Mani prasad Reddy Savanam</cp:lastModifiedBy>
  <cp:revision>8</cp:revision>
  <dcterms:created xsi:type="dcterms:W3CDTF">2026-02-12T05:27:16Z</dcterms:created>
  <dcterms:modified xsi:type="dcterms:W3CDTF">2026-02-24T13:16:20Z</dcterms:modified>
</cp:coreProperties>
</file>