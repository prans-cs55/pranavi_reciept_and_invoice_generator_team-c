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C Soft Icecream" charset="1" panose="02000603000000000000"/>
      <p:regular r:id="rId21"/>
    </p:embeddedFont>
    <p:embeddedFont>
      <p:font typeface="Montserrat" charset="1" panose="00000500000000000000"/>
      <p:regular r:id="rId22"/>
    </p:embeddedFont>
    <p:embeddedFont>
      <p:font typeface="Montserrat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4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9440" y="8502363"/>
            <a:ext cx="2105035" cy="2098432"/>
          </a:xfrm>
          <a:custGeom>
            <a:avLst/>
            <a:gdLst/>
            <a:ahLst/>
            <a:cxnLst/>
            <a:rect r="r" b="b" t="t" l="l"/>
            <a:pathLst>
              <a:path h="2098432" w="2105035">
                <a:moveTo>
                  <a:pt x="0" y="0"/>
                </a:moveTo>
                <a:lnTo>
                  <a:pt x="2105035" y="0"/>
                </a:lnTo>
                <a:lnTo>
                  <a:pt x="2105035" y="2098432"/>
                </a:lnTo>
                <a:lnTo>
                  <a:pt x="0" y="2098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4956202" cy="8229600"/>
          </a:xfrm>
          <a:custGeom>
            <a:avLst/>
            <a:gdLst/>
            <a:ahLst/>
            <a:cxnLst/>
            <a:rect r="r" b="b" t="t" l="l"/>
            <a:pathLst>
              <a:path h="8229600" w="4956202">
                <a:moveTo>
                  <a:pt x="0" y="0"/>
                </a:moveTo>
                <a:lnTo>
                  <a:pt x="4956202" y="0"/>
                </a:lnTo>
                <a:lnTo>
                  <a:pt x="49562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95369" y="8502363"/>
            <a:ext cx="8853465" cy="755937"/>
            <a:chOff x="0" y="0"/>
            <a:chExt cx="2331777" cy="199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777" cy="199095"/>
            </a:xfrm>
            <a:custGeom>
              <a:avLst/>
              <a:gdLst/>
              <a:ahLst/>
              <a:cxnLst/>
              <a:rect r="r" b="b" t="t" l="l"/>
              <a:pathLst>
                <a:path h="199095" w="2331777">
                  <a:moveTo>
                    <a:pt x="44597" y="0"/>
                  </a:moveTo>
                  <a:lnTo>
                    <a:pt x="2287180" y="0"/>
                  </a:lnTo>
                  <a:cubicBezTo>
                    <a:pt x="2299008" y="0"/>
                    <a:pt x="2310351" y="4699"/>
                    <a:pt x="2318714" y="13062"/>
                  </a:cubicBezTo>
                  <a:cubicBezTo>
                    <a:pt x="2327078" y="21426"/>
                    <a:pt x="2331777" y="32769"/>
                    <a:pt x="2331777" y="44597"/>
                  </a:cubicBezTo>
                  <a:lnTo>
                    <a:pt x="2331777" y="154498"/>
                  </a:lnTo>
                  <a:cubicBezTo>
                    <a:pt x="2331777" y="166325"/>
                    <a:pt x="2327078" y="177669"/>
                    <a:pt x="2318714" y="186032"/>
                  </a:cubicBezTo>
                  <a:cubicBezTo>
                    <a:pt x="2310351" y="194396"/>
                    <a:pt x="2299008" y="199095"/>
                    <a:pt x="2287180" y="199095"/>
                  </a:cubicBezTo>
                  <a:lnTo>
                    <a:pt x="44597" y="199095"/>
                  </a:lnTo>
                  <a:cubicBezTo>
                    <a:pt x="32769" y="199095"/>
                    <a:pt x="21426" y="194396"/>
                    <a:pt x="13062" y="186032"/>
                  </a:cubicBezTo>
                  <a:cubicBezTo>
                    <a:pt x="4699" y="177669"/>
                    <a:pt x="0" y="166325"/>
                    <a:pt x="0" y="154498"/>
                  </a:cubicBezTo>
                  <a:lnTo>
                    <a:pt x="0" y="44597"/>
                  </a:lnTo>
                  <a:cubicBezTo>
                    <a:pt x="0" y="32769"/>
                    <a:pt x="4699" y="21426"/>
                    <a:pt x="13062" y="13062"/>
                  </a:cubicBezTo>
                  <a:cubicBezTo>
                    <a:pt x="21426" y="4699"/>
                    <a:pt x="32769" y="0"/>
                    <a:pt x="4459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C384D9">
                      <a:alpha val="100000"/>
                    </a:srgbClr>
                  </a:gs>
                  <a:gs pos="50000">
                    <a:srgbClr val="5F2280">
                      <a:alpha val="100000"/>
                    </a:srgbClr>
                  </a:gs>
                  <a:gs pos="100000">
                    <a:srgbClr val="522FB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1777" cy="237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669547" y="-556067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35283" y="631548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81581">
            <a:off x="16852951" y="7481048"/>
            <a:ext cx="1976788" cy="1947136"/>
          </a:xfrm>
          <a:custGeom>
            <a:avLst/>
            <a:gdLst/>
            <a:ahLst/>
            <a:cxnLst/>
            <a:rect r="r" b="b" t="t" l="l"/>
            <a:pathLst>
              <a:path h="1947136" w="1976788">
                <a:moveTo>
                  <a:pt x="0" y="0"/>
                </a:moveTo>
                <a:lnTo>
                  <a:pt x="1976788" y="0"/>
                </a:lnTo>
                <a:lnTo>
                  <a:pt x="1976788" y="1947136"/>
                </a:lnTo>
                <a:lnTo>
                  <a:pt x="0" y="1947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84902" y="4125431"/>
            <a:ext cx="11274398" cy="215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15"/>
              </a:lnSpc>
            </a:pPr>
            <a:r>
              <a:rPr lang="en-US" sz="11939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91242" y="2432492"/>
            <a:ext cx="6404480" cy="112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60"/>
              </a:lnSpc>
            </a:pPr>
            <a:r>
              <a:rPr lang="en-US" sz="6257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MILESTONE -2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4527" y="8556824"/>
            <a:ext cx="80351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</a:pPr>
            <a:r>
              <a:rPr lang="en-US" sz="3399">
                <a:solidFill>
                  <a:srgbClr val="4A416C"/>
                </a:solidFill>
                <a:latin typeface="Montserrat"/>
                <a:ea typeface="Montserrat"/>
                <a:cs typeface="Montserrat"/>
                <a:sym typeface="Montserrat"/>
              </a:rPr>
              <a:t>Presented by Venkata Sai Pranavi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3425"/>
            <a:ext cx="11683638" cy="185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50"/>
              </a:lnSpc>
            </a:pPr>
            <a:r>
              <a:rPr lang="en-US" sz="10250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TASK ASSIGNED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30484"/>
            <a:ext cx="10842288" cy="741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7"/>
              </a:lnSpc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As part of the Infosys Springboard Internship, the task assigned for Milestone 2 is:</a:t>
            </a:r>
          </a:p>
          <a:p>
            <a:pPr algn="just" marL="601060" indent="-300530" lvl="1">
              <a:lnSpc>
                <a:spcPts val="3897"/>
              </a:lnSpc>
              <a:buFont typeface="Arial"/>
              <a:buChar char="•"/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 conduct detailed research on different types of OCR (Optical Character Recognition) models.</a:t>
            </a:r>
          </a:p>
          <a:p>
            <a:pPr algn="just" marL="601060" indent="-300530" lvl="1">
              <a:lnSpc>
                <a:spcPts val="3897"/>
              </a:lnSpc>
              <a:buFont typeface="Arial"/>
              <a:buChar char="•"/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 understand how various OCR techniques work (Traditional, Deep Learning, Transformer-based, Layout-aware).</a:t>
            </a:r>
          </a:p>
          <a:p>
            <a:pPr algn="just" marL="601060" indent="-300530" lvl="1">
              <a:lnSpc>
                <a:spcPts val="3897"/>
              </a:lnSpc>
              <a:buFont typeface="Arial"/>
              <a:buChar char="•"/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 compare their advantages and limitations for receipt and invoice digitization.</a:t>
            </a:r>
          </a:p>
          <a:p>
            <a:pPr algn="just" marL="601060" indent="-300530" lvl="1">
              <a:lnSpc>
                <a:spcPts val="3897"/>
              </a:lnSpc>
              <a:buFont typeface="Arial"/>
              <a:buChar char="•"/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 implement selected OCR models in Google Colab.</a:t>
            </a:r>
          </a:p>
          <a:p>
            <a:pPr algn="just" marL="601060" indent="-300530" lvl="1">
              <a:lnSpc>
                <a:spcPts val="3897"/>
              </a:lnSpc>
              <a:buFont typeface="Arial"/>
              <a:buChar char="•"/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 analyze the extracted output and evaluate performance.</a:t>
            </a:r>
          </a:p>
          <a:p>
            <a:pPr algn="just" marL="601060" indent="-300530" lvl="1">
              <a:lnSpc>
                <a:spcPts val="3897"/>
              </a:lnSpc>
              <a:buFont typeface="Arial"/>
              <a:buChar char="•"/>
            </a:pPr>
            <a:r>
              <a:rPr lang="en-US" sz="2783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 identify the most suitable OCR model for the “Receipt &amp; Invoice Digitizer” project.</a:t>
            </a:r>
          </a:p>
          <a:p>
            <a:pPr algn="just" marL="0" indent="0" lvl="0">
              <a:lnSpc>
                <a:spcPts val="389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736227">
            <a:off x="13870222" y="2002670"/>
            <a:ext cx="5167840" cy="7237166"/>
          </a:xfrm>
          <a:custGeom>
            <a:avLst/>
            <a:gdLst/>
            <a:ahLst/>
            <a:cxnLst/>
            <a:rect r="r" b="b" t="t" l="l"/>
            <a:pathLst>
              <a:path h="7237166" w="5167840">
                <a:moveTo>
                  <a:pt x="0" y="0"/>
                </a:moveTo>
                <a:lnTo>
                  <a:pt x="5167841" y="0"/>
                </a:lnTo>
                <a:lnTo>
                  <a:pt x="5167841" y="7237167"/>
                </a:lnTo>
                <a:lnTo>
                  <a:pt x="0" y="723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51720">
            <a:off x="-272043" y="-501176"/>
            <a:ext cx="1076013" cy="1506874"/>
          </a:xfrm>
          <a:custGeom>
            <a:avLst/>
            <a:gdLst/>
            <a:ahLst/>
            <a:cxnLst/>
            <a:rect r="r" b="b" t="t" l="l"/>
            <a:pathLst>
              <a:path h="1506874" w="1076013">
                <a:moveTo>
                  <a:pt x="0" y="0"/>
                </a:moveTo>
                <a:lnTo>
                  <a:pt x="1076012" y="0"/>
                </a:lnTo>
                <a:lnTo>
                  <a:pt x="1076012" y="1506873"/>
                </a:lnTo>
                <a:lnTo>
                  <a:pt x="0" y="1506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46230">
            <a:off x="9548887" y="9073005"/>
            <a:ext cx="2275434" cy="3186572"/>
          </a:xfrm>
          <a:custGeom>
            <a:avLst/>
            <a:gdLst/>
            <a:ahLst/>
            <a:cxnLst/>
            <a:rect r="r" b="b" t="t" l="l"/>
            <a:pathLst>
              <a:path h="3186572" w="2275434">
                <a:moveTo>
                  <a:pt x="0" y="0"/>
                </a:moveTo>
                <a:lnTo>
                  <a:pt x="2275435" y="0"/>
                </a:lnTo>
                <a:lnTo>
                  <a:pt x="2275435" y="3186572"/>
                </a:lnTo>
                <a:lnTo>
                  <a:pt x="0" y="3186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789512">
            <a:off x="-132629" y="7688483"/>
            <a:ext cx="620234" cy="868591"/>
          </a:xfrm>
          <a:custGeom>
            <a:avLst/>
            <a:gdLst/>
            <a:ahLst/>
            <a:cxnLst/>
            <a:rect r="r" b="b" t="t" l="l"/>
            <a:pathLst>
              <a:path h="868591" w="620234">
                <a:moveTo>
                  <a:pt x="0" y="0"/>
                </a:moveTo>
                <a:lnTo>
                  <a:pt x="620234" y="0"/>
                </a:lnTo>
                <a:lnTo>
                  <a:pt x="620234" y="868591"/>
                </a:lnTo>
                <a:lnTo>
                  <a:pt x="0" y="868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59130">
            <a:off x="12152666" y="798865"/>
            <a:ext cx="1412551" cy="1391363"/>
          </a:xfrm>
          <a:custGeom>
            <a:avLst/>
            <a:gdLst/>
            <a:ahLst/>
            <a:cxnLst/>
            <a:rect r="r" b="b" t="t" l="l"/>
            <a:pathLst>
              <a:path h="1391363" w="1412551">
                <a:moveTo>
                  <a:pt x="0" y="0"/>
                </a:moveTo>
                <a:lnTo>
                  <a:pt x="1412551" y="0"/>
                </a:lnTo>
                <a:lnTo>
                  <a:pt x="1412551" y="1391362"/>
                </a:lnTo>
                <a:lnTo>
                  <a:pt x="0" y="1391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5599" y="733425"/>
            <a:ext cx="15364498" cy="185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50"/>
              </a:lnSpc>
            </a:pPr>
            <a:r>
              <a:rPr lang="en-US" sz="10250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INTRODUCTION TO OCR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7263" y="2838195"/>
            <a:ext cx="14593475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What is OCR (Optical Character Recognition)?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Optical Character Recognition (OCR) is a technology that converts text from images into machine-readable text.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It can extract text from scanned documents, photos, PDFs, receipts, and invoices.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OCR allows computers to read printed or handwritten text automatically.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It eliminates the need for manual data entry.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OCR is widely used in banking, healthcare, retail, and document digitization systems.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9547" y="-929123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99604" y="7299320"/>
            <a:ext cx="1965144" cy="1958980"/>
          </a:xfrm>
          <a:custGeom>
            <a:avLst/>
            <a:gdLst/>
            <a:ahLst/>
            <a:cxnLst/>
            <a:rect r="r" b="b" t="t" l="l"/>
            <a:pathLst>
              <a:path h="1958980" w="1965144">
                <a:moveTo>
                  <a:pt x="0" y="0"/>
                </a:moveTo>
                <a:lnTo>
                  <a:pt x="1965144" y="0"/>
                </a:lnTo>
                <a:lnTo>
                  <a:pt x="1965144" y="1958980"/>
                </a:lnTo>
                <a:lnTo>
                  <a:pt x="0" y="195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-52703"/>
            <a:ext cx="15162351" cy="367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50"/>
              </a:lnSpc>
            </a:pPr>
            <a:r>
              <a:rPr lang="en-US" sz="10250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NEED FOR OCR IN INVOICE DIGITIZATION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47263" y="3943350"/>
            <a:ext cx="14593475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Automatically extracts text like: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Invoice Number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Date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Vendor Name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Total Amount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Reduces manual effort and saves time.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Improves accuracy and efficiency.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Enables digital storage and easy search.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Helps in faster accounting and auditing.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9547" y="-929123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99604" y="7299320"/>
            <a:ext cx="1965144" cy="1958980"/>
          </a:xfrm>
          <a:custGeom>
            <a:avLst/>
            <a:gdLst/>
            <a:ahLst/>
            <a:cxnLst/>
            <a:rect r="r" b="b" t="t" l="l"/>
            <a:pathLst>
              <a:path h="1958980" w="1965144">
                <a:moveTo>
                  <a:pt x="0" y="0"/>
                </a:moveTo>
                <a:lnTo>
                  <a:pt x="1965144" y="0"/>
                </a:lnTo>
                <a:lnTo>
                  <a:pt x="1965144" y="1958980"/>
                </a:lnTo>
                <a:lnTo>
                  <a:pt x="0" y="195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1596" y="-804773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7" y="0"/>
                </a:lnTo>
                <a:lnTo>
                  <a:pt x="3179507" y="3169533"/>
                </a:lnTo>
                <a:lnTo>
                  <a:pt x="0" y="3169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50048" y="1962413"/>
            <a:ext cx="2794608" cy="2873633"/>
          </a:xfrm>
          <a:custGeom>
            <a:avLst/>
            <a:gdLst/>
            <a:ahLst/>
            <a:cxnLst/>
            <a:rect r="r" b="b" t="t" l="l"/>
            <a:pathLst>
              <a:path h="2873633" w="2794608">
                <a:moveTo>
                  <a:pt x="0" y="0"/>
                </a:moveTo>
                <a:lnTo>
                  <a:pt x="2794608" y="0"/>
                </a:lnTo>
                <a:lnTo>
                  <a:pt x="2794608" y="2873634"/>
                </a:lnTo>
                <a:lnTo>
                  <a:pt x="0" y="2873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81581">
            <a:off x="-402974" y="7613660"/>
            <a:ext cx="2863347" cy="2820397"/>
          </a:xfrm>
          <a:custGeom>
            <a:avLst/>
            <a:gdLst/>
            <a:ahLst/>
            <a:cxnLst/>
            <a:rect r="r" b="b" t="t" l="l"/>
            <a:pathLst>
              <a:path h="2820397" w="2863347">
                <a:moveTo>
                  <a:pt x="0" y="0"/>
                </a:moveTo>
                <a:lnTo>
                  <a:pt x="2863348" y="0"/>
                </a:lnTo>
                <a:lnTo>
                  <a:pt x="2863348" y="2820397"/>
                </a:lnTo>
                <a:lnTo>
                  <a:pt x="0" y="2820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85331" y="800100"/>
            <a:ext cx="9317339" cy="14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82"/>
              </a:lnSpc>
            </a:pPr>
            <a:r>
              <a:rPr lang="en-US" sz="8130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LIST OF CONTENTS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57015" y="2844882"/>
            <a:ext cx="971175" cy="941388"/>
            <a:chOff x="0" y="0"/>
            <a:chExt cx="255783" cy="2479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783" cy="247938"/>
            </a:xfrm>
            <a:custGeom>
              <a:avLst/>
              <a:gdLst/>
              <a:ahLst/>
              <a:cxnLst/>
              <a:rect r="r" b="b" t="t" l="l"/>
              <a:pathLst>
                <a:path h="247938" w="255783">
                  <a:moveTo>
                    <a:pt x="123969" y="0"/>
                  </a:moveTo>
                  <a:lnTo>
                    <a:pt x="131814" y="0"/>
                  </a:lnTo>
                  <a:cubicBezTo>
                    <a:pt x="164693" y="0"/>
                    <a:pt x="196225" y="13061"/>
                    <a:pt x="219473" y="36310"/>
                  </a:cubicBezTo>
                  <a:cubicBezTo>
                    <a:pt x="242722" y="59558"/>
                    <a:pt x="255783" y="91090"/>
                    <a:pt x="255783" y="123969"/>
                  </a:cubicBezTo>
                  <a:lnTo>
                    <a:pt x="255783" y="123969"/>
                  </a:lnTo>
                  <a:cubicBezTo>
                    <a:pt x="255783" y="156847"/>
                    <a:pt x="242722" y="188379"/>
                    <a:pt x="219473" y="211628"/>
                  </a:cubicBezTo>
                  <a:cubicBezTo>
                    <a:pt x="196225" y="234877"/>
                    <a:pt x="164693" y="247938"/>
                    <a:pt x="131814" y="247938"/>
                  </a:cubicBezTo>
                  <a:lnTo>
                    <a:pt x="123969" y="247938"/>
                  </a:lnTo>
                  <a:cubicBezTo>
                    <a:pt x="91090" y="247938"/>
                    <a:pt x="59558" y="234877"/>
                    <a:pt x="36310" y="211628"/>
                  </a:cubicBezTo>
                  <a:cubicBezTo>
                    <a:pt x="13061" y="188379"/>
                    <a:pt x="0" y="156847"/>
                    <a:pt x="0" y="123969"/>
                  </a:cubicBezTo>
                  <a:lnTo>
                    <a:pt x="0" y="123969"/>
                  </a:lnTo>
                  <a:cubicBezTo>
                    <a:pt x="0" y="91090"/>
                    <a:pt x="13061" y="59558"/>
                    <a:pt x="36310" y="36310"/>
                  </a:cubicBezTo>
                  <a:cubicBezTo>
                    <a:pt x="59558" y="13061"/>
                    <a:pt x="91090" y="0"/>
                    <a:pt x="1239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5783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61181" y="2844882"/>
            <a:ext cx="4753175" cy="941388"/>
            <a:chOff x="0" y="0"/>
            <a:chExt cx="1251865" cy="2479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1865" cy="247938"/>
            </a:xfrm>
            <a:custGeom>
              <a:avLst/>
              <a:gdLst/>
              <a:ahLst/>
              <a:cxnLst/>
              <a:rect r="r" b="b" t="t" l="l"/>
              <a:pathLst>
                <a:path h="247938" w="1251865">
                  <a:moveTo>
                    <a:pt x="83068" y="0"/>
                  </a:moveTo>
                  <a:lnTo>
                    <a:pt x="1168797" y="0"/>
                  </a:lnTo>
                  <a:cubicBezTo>
                    <a:pt x="1214674" y="0"/>
                    <a:pt x="1251865" y="37191"/>
                    <a:pt x="1251865" y="83068"/>
                  </a:cubicBezTo>
                  <a:lnTo>
                    <a:pt x="1251865" y="164869"/>
                  </a:lnTo>
                  <a:cubicBezTo>
                    <a:pt x="1251865" y="186900"/>
                    <a:pt x="1243113" y="208029"/>
                    <a:pt x="1227535" y="223607"/>
                  </a:cubicBezTo>
                  <a:cubicBezTo>
                    <a:pt x="1211957" y="239186"/>
                    <a:pt x="1190828" y="247938"/>
                    <a:pt x="1168797" y="247938"/>
                  </a:cubicBezTo>
                  <a:lnTo>
                    <a:pt x="83068" y="247938"/>
                  </a:lnTo>
                  <a:cubicBezTo>
                    <a:pt x="37191" y="247938"/>
                    <a:pt x="0" y="210747"/>
                    <a:pt x="0" y="164869"/>
                  </a:cubicBezTo>
                  <a:lnTo>
                    <a:pt x="0" y="83068"/>
                  </a:lnTo>
                  <a:cubicBezTo>
                    <a:pt x="0" y="37191"/>
                    <a:pt x="37191" y="0"/>
                    <a:pt x="83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51865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96744" y="3029813"/>
            <a:ext cx="691718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35592" y="2846780"/>
            <a:ext cx="37561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 PyTesseract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57015" y="4064000"/>
            <a:ext cx="971175" cy="941388"/>
            <a:chOff x="0" y="0"/>
            <a:chExt cx="255783" cy="2479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783" cy="247938"/>
            </a:xfrm>
            <a:custGeom>
              <a:avLst/>
              <a:gdLst/>
              <a:ahLst/>
              <a:cxnLst/>
              <a:rect r="r" b="b" t="t" l="l"/>
              <a:pathLst>
                <a:path h="247938" w="255783">
                  <a:moveTo>
                    <a:pt x="123969" y="0"/>
                  </a:moveTo>
                  <a:lnTo>
                    <a:pt x="131814" y="0"/>
                  </a:lnTo>
                  <a:cubicBezTo>
                    <a:pt x="164693" y="0"/>
                    <a:pt x="196225" y="13061"/>
                    <a:pt x="219473" y="36310"/>
                  </a:cubicBezTo>
                  <a:cubicBezTo>
                    <a:pt x="242722" y="59558"/>
                    <a:pt x="255783" y="91090"/>
                    <a:pt x="255783" y="123969"/>
                  </a:cubicBezTo>
                  <a:lnTo>
                    <a:pt x="255783" y="123969"/>
                  </a:lnTo>
                  <a:cubicBezTo>
                    <a:pt x="255783" y="156847"/>
                    <a:pt x="242722" y="188379"/>
                    <a:pt x="219473" y="211628"/>
                  </a:cubicBezTo>
                  <a:cubicBezTo>
                    <a:pt x="196225" y="234877"/>
                    <a:pt x="164693" y="247938"/>
                    <a:pt x="131814" y="247938"/>
                  </a:cubicBezTo>
                  <a:lnTo>
                    <a:pt x="123969" y="247938"/>
                  </a:lnTo>
                  <a:cubicBezTo>
                    <a:pt x="91090" y="247938"/>
                    <a:pt x="59558" y="234877"/>
                    <a:pt x="36310" y="211628"/>
                  </a:cubicBezTo>
                  <a:cubicBezTo>
                    <a:pt x="13061" y="188379"/>
                    <a:pt x="0" y="156847"/>
                    <a:pt x="0" y="123969"/>
                  </a:cubicBezTo>
                  <a:lnTo>
                    <a:pt x="0" y="123969"/>
                  </a:lnTo>
                  <a:cubicBezTo>
                    <a:pt x="0" y="91090"/>
                    <a:pt x="13061" y="59558"/>
                    <a:pt x="36310" y="36310"/>
                  </a:cubicBezTo>
                  <a:cubicBezTo>
                    <a:pt x="59558" y="13061"/>
                    <a:pt x="91090" y="0"/>
                    <a:pt x="1239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5783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861181" y="4064000"/>
            <a:ext cx="4753175" cy="941388"/>
            <a:chOff x="0" y="0"/>
            <a:chExt cx="1251865" cy="2479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1865" cy="247938"/>
            </a:xfrm>
            <a:custGeom>
              <a:avLst/>
              <a:gdLst/>
              <a:ahLst/>
              <a:cxnLst/>
              <a:rect r="r" b="b" t="t" l="l"/>
              <a:pathLst>
                <a:path h="247938" w="1251865">
                  <a:moveTo>
                    <a:pt x="83068" y="0"/>
                  </a:moveTo>
                  <a:lnTo>
                    <a:pt x="1168797" y="0"/>
                  </a:lnTo>
                  <a:cubicBezTo>
                    <a:pt x="1214674" y="0"/>
                    <a:pt x="1251865" y="37191"/>
                    <a:pt x="1251865" y="83068"/>
                  </a:cubicBezTo>
                  <a:lnTo>
                    <a:pt x="1251865" y="164869"/>
                  </a:lnTo>
                  <a:cubicBezTo>
                    <a:pt x="1251865" y="186900"/>
                    <a:pt x="1243113" y="208029"/>
                    <a:pt x="1227535" y="223607"/>
                  </a:cubicBezTo>
                  <a:cubicBezTo>
                    <a:pt x="1211957" y="239186"/>
                    <a:pt x="1190828" y="247938"/>
                    <a:pt x="1168797" y="247938"/>
                  </a:cubicBezTo>
                  <a:lnTo>
                    <a:pt x="83068" y="247938"/>
                  </a:lnTo>
                  <a:cubicBezTo>
                    <a:pt x="37191" y="247938"/>
                    <a:pt x="0" y="210747"/>
                    <a:pt x="0" y="164869"/>
                  </a:cubicBezTo>
                  <a:lnTo>
                    <a:pt x="0" y="83068"/>
                  </a:lnTo>
                  <a:cubicBezTo>
                    <a:pt x="0" y="37191"/>
                    <a:pt x="37191" y="0"/>
                    <a:pt x="83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51865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96744" y="4248931"/>
            <a:ext cx="691718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96698" y="3981491"/>
            <a:ext cx="379500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Deep Learning OCR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757015" y="5281613"/>
            <a:ext cx="971175" cy="941388"/>
            <a:chOff x="0" y="0"/>
            <a:chExt cx="255783" cy="2479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5783" cy="247938"/>
            </a:xfrm>
            <a:custGeom>
              <a:avLst/>
              <a:gdLst/>
              <a:ahLst/>
              <a:cxnLst/>
              <a:rect r="r" b="b" t="t" l="l"/>
              <a:pathLst>
                <a:path h="247938" w="255783">
                  <a:moveTo>
                    <a:pt x="123969" y="0"/>
                  </a:moveTo>
                  <a:lnTo>
                    <a:pt x="131814" y="0"/>
                  </a:lnTo>
                  <a:cubicBezTo>
                    <a:pt x="164693" y="0"/>
                    <a:pt x="196225" y="13061"/>
                    <a:pt x="219473" y="36310"/>
                  </a:cubicBezTo>
                  <a:cubicBezTo>
                    <a:pt x="242722" y="59558"/>
                    <a:pt x="255783" y="91090"/>
                    <a:pt x="255783" y="123969"/>
                  </a:cubicBezTo>
                  <a:lnTo>
                    <a:pt x="255783" y="123969"/>
                  </a:lnTo>
                  <a:cubicBezTo>
                    <a:pt x="255783" y="156847"/>
                    <a:pt x="242722" y="188379"/>
                    <a:pt x="219473" y="211628"/>
                  </a:cubicBezTo>
                  <a:cubicBezTo>
                    <a:pt x="196225" y="234877"/>
                    <a:pt x="164693" y="247938"/>
                    <a:pt x="131814" y="247938"/>
                  </a:cubicBezTo>
                  <a:lnTo>
                    <a:pt x="123969" y="247938"/>
                  </a:lnTo>
                  <a:cubicBezTo>
                    <a:pt x="91090" y="247938"/>
                    <a:pt x="59558" y="234877"/>
                    <a:pt x="36310" y="211628"/>
                  </a:cubicBezTo>
                  <a:cubicBezTo>
                    <a:pt x="13061" y="188379"/>
                    <a:pt x="0" y="156847"/>
                    <a:pt x="0" y="123969"/>
                  </a:cubicBezTo>
                  <a:lnTo>
                    <a:pt x="0" y="123969"/>
                  </a:lnTo>
                  <a:cubicBezTo>
                    <a:pt x="0" y="91090"/>
                    <a:pt x="13061" y="59558"/>
                    <a:pt x="36310" y="36310"/>
                  </a:cubicBezTo>
                  <a:cubicBezTo>
                    <a:pt x="59558" y="13061"/>
                    <a:pt x="91090" y="0"/>
                    <a:pt x="1239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5783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861181" y="5281613"/>
            <a:ext cx="4753175" cy="941388"/>
            <a:chOff x="0" y="0"/>
            <a:chExt cx="1251865" cy="2479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1865" cy="247938"/>
            </a:xfrm>
            <a:custGeom>
              <a:avLst/>
              <a:gdLst/>
              <a:ahLst/>
              <a:cxnLst/>
              <a:rect r="r" b="b" t="t" l="l"/>
              <a:pathLst>
                <a:path h="247938" w="1251865">
                  <a:moveTo>
                    <a:pt x="83068" y="0"/>
                  </a:moveTo>
                  <a:lnTo>
                    <a:pt x="1168797" y="0"/>
                  </a:lnTo>
                  <a:cubicBezTo>
                    <a:pt x="1214674" y="0"/>
                    <a:pt x="1251865" y="37191"/>
                    <a:pt x="1251865" y="83068"/>
                  </a:cubicBezTo>
                  <a:lnTo>
                    <a:pt x="1251865" y="164869"/>
                  </a:lnTo>
                  <a:cubicBezTo>
                    <a:pt x="1251865" y="186900"/>
                    <a:pt x="1243113" y="208029"/>
                    <a:pt x="1227535" y="223607"/>
                  </a:cubicBezTo>
                  <a:cubicBezTo>
                    <a:pt x="1211957" y="239186"/>
                    <a:pt x="1190828" y="247938"/>
                    <a:pt x="1168797" y="247938"/>
                  </a:cubicBezTo>
                  <a:lnTo>
                    <a:pt x="83068" y="247938"/>
                  </a:lnTo>
                  <a:cubicBezTo>
                    <a:pt x="37191" y="247938"/>
                    <a:pt x="0" y="210747"/>
                    <a:pt x="0" y="164869"/>
                  </a:cubicBezTo>
                  <a:lnTo>
                    <a:pt x="0" y="83068"/>
                  </a:lnTo>
                  <a:cubicBezTo>
                    <a:pt x="0" y="37191"/>
                    <a:pt x="37191" y="0"/>
                    <a:pt x="83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51865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896744" y="5466544"/>
            <a:ext cx="691718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59715" y="5248316"/>
            <a:ext cx="375610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Transformer-Based OCR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757015" y="6500730"/>
            <a:ext cx="971175" cy="941388"/>
            <a:chOff x="0" y="0"/>
            <a:chExt cx="255783" cy="2479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5783" cy="247938"/>
            </a:xfrm>
            <a:custGeom>
              <a:avLst/>
              <a:gdLst/>
              <a:ahLst/>
              <a:cxnLst/>
              <a:rect r="r" b="b" t="t" l="l"/>
              <a:pathLst>
                <a:path h="247938" w="255783">
                  <a:moveTo>
                    <a:pt x="123969" y="0"/>
                  </a:moveTo>
                  <a:lnTo>
                    <a:pt x="131814" y="0"/>
                  </a:lnTo>
                  <a:cubicBezTo>
                    <a:pt x="164693" y="0"/>
                    <a:pt x="196225" y="13061"/>
                    <a:pt x="219473" y="36310"/>
                  </a:cubicBezTo>
                  <a:cubicBezTo>
                    <a:pt x="242722" y="59558"/>
                    <a:pt x="255783" y="91090"/>
                    <a:pt x="255783" y="123969"/>
                  </a:cubicBezTo>
                  <a:lnTo>
                    <a:pt x="255783" y="123969"/>
                  </a:lnTo>
                  <a:cubicBezTo>
                    <a:pt x="255783" y="156847"/>
                    <a:pt x="242722" y="188379"/>
                    <a:pt x="219473" y="211628"/>
                  </a:cubicBezTo>
                  <a:cubicBezTo>
                    <a:pt x="196225" y="234877"/>
                    <a:pt x="164693" y="247938"/>
                    <a:pt x="131814" y="247938"/>
                  </a:cubicBezTo>
                  <a:lnTo>
                    <a:pt x="123969" y="247938"/>
                  </a:lnTo>
                  <a:cubicBezTo>
                    <a:pt x="91090" y="247938"/>
                    <a:pt x="59558" y="234877"/>
                    <a:pt x="36310" y="211628"/>
                  </a:cubicBezTo>
                  <a:cubicBezTo>
                    <a:pt x="13061" y="188379"/>
                    <a:pt x="0" y="156847"/>
                    <a:pt x="0" y="123969"/>
                  </a:cubicBezTo>
                  <a:lnTo>
                    <a:pt x="0" y="123969"/>
                  </a:lnTo>
                  <a:cubicBezTo>
                    <a:pt x="0" y="91090"/>
                    <a:pt x="13061" y="59558"/>
                    <a:pt x="36310" y="36310"/>
                  </a:cubicBezTo>
                  <a:cubicBezTo>
                    <a:pt x="59558" y="13061"/>
                    <a:pt x="91090" y="0"/>
                    <a:pt x="1239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55783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861181" y="6500730"/>
            <a:ext cx="4753175" cy="941388"/>
            <a:chOff x="0" y="0"/>
            <a:chExt cx="1251865" cy="2479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1865" cy="247938"/>
            </a:xfrm>
            <a:custGeom>
              <a:avLst/>
              <a:gdLst/>
              <a:ahLst/>
              <a:cxnLst/>
              <a:rect r="r" b="b" t="t" l="l"/>
              <a:pathLst>
                <a:path h="247938" w="1251865">
                  <a:moveTo>
                    <a:pt x="83068" y="0"/>
                  </a:moveTo>
                  <a:lnTo>
                    <a:pt x="1168797" y="0"/>
                  </a:lnTo>
                  <a:cubicBezTo>
                    <a:pt x="1214674" y="0"/>
                    <a:pt x="1251865" y="37191"/>
                    <a:pt x="1251865" y="83068"/>
                  </a:cubicBezTo>
                  <a:lnTo>
                    <a:pt x="1251865" y="164869"/>
                  </a:lnTo>
                  <a:cubicBezTo>
                    <a:pt x="1251865" y="186900"/>
                    <a:pt x="1243113" y="208029"/>
                    <a:pt x="1227535" y="223607"/>
                  </a:cubicBezTo>
                  <a:cubicBezTo>
                    <a:pt x="1211957" y="239186"/>
                    <a:pt x="1190828" y="247938"/>
                    <a:pt x="1168797" y="247938"/>
                  </a:cubicBezTo>
                  <a:lnTo>
                    <a:pt x="83068" y="247938"/>
                  </a:lnTo>
                  <a:cubicBezTo>
                    <a:pt x="37191" y="247938"/>
                    <a:pt x="0" y="210747"/>
                    <a:pt x="0" y="164869"/>
                  </a:cubicBezTo>
                  <a:lnTo>
                    <a:pt x="0" y="83068"/>
                  </a:lnTo>
                  <a:cubicBezTo>
                    <a:pt x="0" y="37191"/>
                    <a:pt x="37191" y="0"/>
                    <a:pt x="83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51865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896744" y="6685662"/>
            <a:ext cx="691718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35592" y="6515141"/>
            <a:ext cx="375610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Layout-Aware OCR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5530985" y="771217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3"/>
                </a:lnTo>
                <a:lnTo>
                  <a:pt x="0" y="3169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2757015" y="7915316"/>
            <a:ext cx="971175" cy="941388"/>
            <a:chOff x="0" y="0"/>
            <a:chExt cx="255783" cy="2479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5783" cy="247938"/>
            </a:xfrm>
            <a:custGeom>
              <a:avLst/>
              <a:gdLst/>
              <a:ahLst/>
              <a:cxnLst/>
              <a:rect r="r" b="b" t="t" l="l"/>
              <a:pathLst>
                <a:path h="247938" w="255783">
                  <a:moveTo>
                    <a:pt x="123969" y="0"/>
                  </a:moveTo>
                  <a:lnTo>
                    <a:pt x="131814" y="0"/>
                  </a:lnTo>
                  <a:cubicBezTo>
                    <a:pt x="164693" y="0"/>
                    <a:pt x="196225" y="13061"/>
                    <a:pt x="219473" y="36310"/>
                  </a:cubicBezTo>
                  <a:cubicBezTo>
                    <a:pt x="242722" y="59558"/>
                    <a:pt x="255783" y="91090"/>
                    <a:pt x="255783" y="123969"/>
                  </a:cubicBezTo>
                  <a:lnTo>
                    <a:pt x="255783" y="123969"/>
                  </a:lnTo>
                  <a:cubicBezTo>
                    <a:pt x="255783" y="156847"/>
                    <a:pt x="242722" y="188379"/>
                    <a:pt x="219473" y="211628"/>
                  </a:cubicBezTo>
                  <a:cubicBezTo>
                    <a:pt x="196225" y="234877"/>
                    <a:pt x="164693" y="247938"/>
                    <a:pt x="131814" y="247938"/>
                  </a:cubicBezTo>
                  <a:lnTo>
                    <a:pt x="123969" y="247938"/>
                  </a:lnTo>
                  <a:cubicBezTo>
                    <a:pt x="91090" y="247938"/>
                    <a:pt x="59558" y="234877"/>
                    <a:pt x="36310" y="211628"/>
                  </a:cubicBezTo>
                  <a:cubicBezTo>
                    <a:pt x="13061" y="188379"/>
                    <a:pt x="0" y="156847"/>
                    <a:pt x="0" y="123969"/>
                  </a:cubicBezTo>
                  <a:lnTo>
                    <a:pt x="0" y="123969"/>
                  </a:lnTo>
                  <a:cubicBezTo>
                    <a:pt x="0" y="91090"/>
                    <a:pt x="13061" y="59558"/>
                    <a:pt x="36310" y="36310"/>
                  </a:cubicBezTo>
                  <a:cubicBezTo>
                    <a:pt x="59558" y="13061"/>
                    <a:pt x="91090" y="0"/>
                    <a:pt x="1239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55783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861181" y="7915316"/>
            <a:ext cx="4753175" cy="941388"/>
            <a:chOff x="0" y="0"/>
            <a:chExt cx="1251865" cy="2479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1865" cy="247938"/>
            </a:xfrm>
            <a:custGeom>
              <a:avLst/>
              <a:gdLst/>
              <a:ahLst/>
              <a:cxnLst/>
              <a:rect r="r" b="b" t="t" l="l"/>
              <a:pathLst>
                <a:path h="247938" w="1251865">
                  <a:moveTo>
                    <a:pt x="83068" y="0"/>
                  </a:moveTo>
                  <a:lnTo>
                    <a:pt x="1168797" y="0"/>
                  </a:lnTo>
                  <a:cubicBezTo>
                    <a:pt x="1214674" y="0"/>
                    <a:pt x="1251865" y="37191"/>
                    <a:pt x="1251865" y="83068"/>
                  </a:cubicBezTo>
                  <a:lnTo>
                    <a:pt x="1251865" y="164869"/>
                  </a:lnTo>
                  <a:cubicBezTo>
                    <a:pt x="1251865" y="186900"/>
                    <a:pt x="1243113" y="208029"/>
                    <a:pt x="1227535" y="223607"/>
                  </a:cubicBezTo>
                  <a:cubicBezTo>
                    <a:pt x="1211957" y="239186"/>
                    <a:pt x="1190828" y="247938"/>
                    <a:pt x="1168797" y="247938"/>
                  </a:cubicBezTo>
                  <a:lnTo>
                    <a:pt x="83068" y="247938"/>
                  </a:lnTo>
                  <a:cubicBezTo>
                    <a:pt x="37191" y="247938"/>
                    <a:pt x="0" y="210747"/>
                    <a:pt x="0" y="164869"/>
                  </a:cubicBezTo>
                  <a:lnTo>
                    <a:pt x="0" y="83068"/>
                  </a:lnTo>
                  <a:cubicBezTo>
                    <a:pt x="0" y="37191"/>
                    <a:pt x="37191" y="0"/>
                    <a:pt x="830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51865" cy="286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2896744" y="8100247"/>
            <a:ext cx="691718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335592" y="8100247"/>
            <a:ext cx="37561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Cloud-Based OCR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9031" y="76964"/>
            <a:ext cx="8958092" cy="244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TRADITIONAL OCR – TESSERACT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69279" y="2876550"/>
            <a:ext cx="9706451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Tesseract is an open-source OCR engine developed by Google.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It uses image processing techniques and LSTM-based text recognition.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Best suited for clean, printed text documents.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Works well when image quality is high and text is clearly aligned.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✅ Advantages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Free and open-source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Easy to implement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Good accuracy for printed text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16310" y="2549563"/>
            <a:ext cx="4953237" cy="6356958"/>
          </a:xfrm>
          <a:custGeom>
            <a:avLst/>
            <a:gdLst/>
            <a:ahLst/>
            <a:cxnLst/>
            <a:rect r="r" b="b" t="t" l="l"/>
            <a:pathLst>
              <a:path h="6356958" w="4953237">
                <a:moveTo>
                  <a:pt x="0" y="0"/>
                </a:moveTo>
                <a:lnTo>
                  <a:pt x="4953237" y="0"/>
                </a:lnTo>
                <a:lnTo>
                  <a:pt x="495323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06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18739" y="2549563"/>
            <a:ext cx="6438460" cy="6333835"/>
          </a:xfrm>
          <a:custGeom>
            <a:avLst/>
            <a:gdLst/>
            <a:ahLst/>
            <a:cxnLst/>
            <a:rect r="r" b="b" t="t" l="l"/>
            <a:pathLst>
              <a:path h="6333835" w="6438460">
                <a:moveTo>
                  <a:pt x="0" y="0"/>
                </a:moveTo>
                <a:lnTo>
                  <a:pt x="6438460" y="0"/>
                </a:lnTo>
                <a:lnTo>
                  <a:pt x="6438460" y="6333835"/>
                </a:lnTo>
                <a:lnTo>
                  <a:pt x="0" y="6333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09031" y="76964"/>
            <a:ext cx="8958092" cy="244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TRADITIONAL OCR – TESSERACT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9031" y="76964"/>
            <a:ext cx="9721759" cy="244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DEEP LEARNING-BASED OCR – EASYOCR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69279" y="2876550"/>
            <a:ext cx="9706451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EasyOCR is a deep learning-based OCR library.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Uses Convolutional Neural Networks (CNN) and Recurrent Neural Networks (RNN).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Supports multiple languages.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Performs better on noisy and complex images.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✅ Advantages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Better accuracy than traditional OCR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Handles different fonts and layouts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Multi-language support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46753" y="2526440"/>
            <a:ext cx="6031164" cy="6356958"/>
          </a:xfrm>
          <a:custGeom>
            <a:avLst/>
            <a:gdLst/>
            <a:ahLst/>
            <a:cxnLst/>
            <a:rect r="r" b="b" t="t" l="l"/>
            <a:pathLst>
              <a:path h="6356958" w="6031164">
                <a:moveTo>
                  <a:pt x="0" y="0"/>
                </a:moveTo>
                <a:lnTo>
                  <a:pt x="6031164" y="0"/>
                </a:lnTo>
                <a:lnTo>
                  <a:pt x="603116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5572" y="2754821"/>
            <a:ext cx="8324793" cy="5900197"/>
          </a:xfrm>
          <a:custGeom>
            <a:avLst/>
            <a:gdLst/>
            <a:ahLst/>
            <a:cxnLst/>
            <a:rect r="r" b="b" t="t" l="l"/>
            <a:pathLst>
              <a:path h="5900197" w="8324793">
                <a:moveTo>
                  <a:pt x="0" y="0"/>
                </a:moveTo>
                <a:lnTo>
                  <a:pt x="8324793" y="0"/>
                </a:lnTo>
                <a:lnTo>
                  <a:pt x="8324793" y="5900197"/>
                </a:lnTo>
                <a:lnTo>
                  <a:pt x="0" y="5900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09031" y="76964"/>
            <a:ext cx="9721759" cy="244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DEEP LEARNING-BASED OCR – EASYOCR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9031" y="76964"/>
            <a:ext cx="9721759" cy="487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TRANSFORMER-BASED OCR – TROCR</a:t>
            </a:r>
          </a:p>
          <a:p>
            <a:pPr algn="ctr">
              <a:lnSpc>
                <a:spcPts val="9568"/>
              </a:lnSpc>
            </a:pPr>
          </a:p>
          <a:p>
            <a:pPr algn="ctr" marL="0" indent="0" lvl="0">
              <a:lnSpc>
                <a:spcPts val="956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290775" y="3033776"/>
            <a:ext cx="970645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TrOCR is developed by Microsoft.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Uses Vision Transformers for text recognition.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State-of-the-art performance for printed and handwritten text.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Learns contextual relationships between words.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✅ Advantages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High accuracy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Good for handwritten and complex text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Context-aware recognition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3263" y="2613237"/>
            <a:ext cx="7484274" cy="6071617"/>
          </a:xfrm>
          <a:custGeom>
            <a:avLst/>
            <a:gdLst/>
            <a:ahLst/>
            <a:cxnLst/>
            <a:rect r="r" b="b" t="t" l="l"/>
            <a:pathLst>
              <a:path h="6071617" w="7484274">
                <a:moveTo>
                  <a:pt x="0" y="0"/>
                </a:moveTo>
                <a:lnTo>
                  <a:pt x="7484274" y="0"/>
                </a:lnTo>
                <a:lnTo>
                  <a:pt x="7484274" y="6071617"/>
                </a:lnTo>
                <a:lnTo>
                  <a:pt x="0" y="6071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89684" y="2682465"/>
            <a:ext cx="10500463" cy="5933161"/>
          </a:xfrm>
          <a:custGeom>
            <a:avLst/>
            <a:gdLst/>
            <a:ahLst/>
            <a:cxnLst/>
            <a:rect r="r" b="b" t="t" l="l"/>
            <a:pathLst>
              <a:path h="5933161" w="10500463">
                <a:moveTo>
                  <a:pt x="0" y="0"/>
                </a:moveTo>
                <a:lnTo>
                  <a:pt x="10500463" y="0"/>
                </a:lnTo>
                <a:lnTo>
                  <a:pt x="10500463" y="5933161"/>
                </a:lnTo>
                <a:lnTo>
                  <a:pt x="0" y="59331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62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09031" y="76964"/>
            <a:ext cx="9721759" cy="487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TRANSFORMER-BASED OCR – TROCR</a:t>
            </a:r>
          </a:p>
          <a:p>
            <a:pPr algn="ctr">
              <a:lnSpc>
                <a:spcPts val="9568"/>
              </a:lnSpc>
            </a:pPr>
          </a:p>
          <a:p>
            <a:pPr algn="ctr" marL="0" indent="0" lvl="0">
              <a:lnSpc>
                <a:spcPts val="9568"/>
              </a:lnSpc>
            </a:p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9031" y="76964"/>
            <a:ext cx="9721759" cy="366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683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Cloud OCR – Google Vision API</a:t>
            </a:r>
          </a:p>
          <a:p>
            <a:pPr algn="ctr" marL="0" indent="0" lvl="0">
              <a:lnSpc>
                <a:spcPts val="956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290775" y="3033776"/>
            <a:ext cx="9706451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Cloud-based OCR service provided by Google.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Uses advanced deep learning models.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Provides high accuracy and scalability.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✅ Advantages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Very high accuracy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No need to train models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Handles large-scale data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❌ Limitations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Paid service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42698"/>
                </a:solidFill>
                <a:latin typeface="Montserrat"/>
                <a:ea typeface="Montserrat"/>
                <a:cs typeface="Montserrat"/>
                <a:sym typeface="Montserrat"/>
              </a:rPr>
              <a:t>Requires internet and API setup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827038">
            <a:off x="16712286" y="8455347"/>
            <a:ext cx="2111156" cy="2895736"/>
          </a:xfrm>
          <a:custGeom>
            <a:avLst/>
            <a:gdLst/>
            <a:ahLst/>
            <a:cxnLst/>
            <a:rect r="r" b="b" t="t" l="l"/>
            <a:pathLst>
              <a:path h="2895736" w="211115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09551" y="7797034"/>
            <a:ext cx="2732216" cy="2851459"/>
          </a:xfrm>
          <a:custGeom>
            <a:avLst/>
            <a:gdLst/>
            <a:ahLst/>
            <a:cxnLst/>
            <a:rect r="r" b="b" t="t" l="l"/>
            <a:pathLst>
              <a:path h="2851459" w="2732216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9547" y="-1128092"/>
            <a:ext cx="3179507" cy="3169533"/>
          </a:xfrm>
          <a:custGeom>
            <a:avLst/>
            <a:gdLst/>
            <a:ahLst/>
            <a:cxnLst/>
            <a:rect r="r" b="b" t="t" l="l"/>
            <a:pathLst>
              <a:path h="3169533" w="3179507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27914" y="636457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98584" y="9270390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9144000" y="3412055"/>
          <a:ext cx="7543800" cy="3771900"/>
        </p:xfrm>
        <a:graphic>
          <a:graphicData uri="http://schemas.openxmlformats.org/presentationml/2006/ole">
            <p:oleObj imgW="90424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761848" y="2339378"/>
            <a:ext cx="7406707" cy="6057460"/>
          </a:xfrm>
          <a:custGeom>
            <a:avLst/>
            <a:gdLst/>
            <a:ahLst/>
            <a:cxnLst/>
            <a:rect r="r" b="b" t="t" l="l"/>
            <a:pathLst>
              <a:path h="6057460" w="7406707">
                <a:moveTo>
                  <a:pt x="0" y="0"/>
                </a:moveTo>
                <a:lnTo>
                  <a:pt x="7406707" y="0"/>
                </a:lnTo>
                <a:lnTo>
                  <a:pt x="7406707" y="6057460"/>
                </a:lnTo>
                <a:lnTo>
                  <a:pt x="0" y="6057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03595" y="1048508"/>
            <a:ext cx="8459940" cy="17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90"/>
              </a:lnSpc>
            </a:pPr>
            <a:r>
              <a:rPr lang="en-US" sz="956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ANALYSIS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27914" y="636457"/>
            <a:ext cx="1320171" cy="1357502"/>
          </a:xfrm>
          <a:custGeom>
            <a:avLst/>
            <a:gdLst/>
            <a:ahLst/>
            <a:cxnLst/>
            <a:rect r="r" b="b" t="t" l="l"/>
            <a:pathLst>
              <a:path h="1357502" w="1320171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664492"/>
            <a:ext cx="16230600" cy="4410483"/>
            <a:chOff x="0" y="0"/>
            <a:chExt cx="4274726" cy="11616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161609"/>
            </a:xfrm>
            <a:custGeom>
              <a:avLst/>
              <a:gdLst/>
              <a:ahLst/>
              <a:cxnLst/>
              <a:rect r="r" b="b" t="t" l="l"/>
              <a:pathLst>
                <a:path h="116160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137282"/>
                  </a:lnTo>
                  <a:cubicBezTo>
                    <a:pt x="4274726" y="1143734"/>
                    <a:pt x="4272163" y="1149921"/>
                    <a:pt x="4267601" y="1154483"/>
                  </a:cubicBezTo>
                  <a:cubicBezTo>
                    <a:pt x="4263039" y="1159046"/>
                    <a:pt x="4256851" y="1161609"/>
                    <a:pt x="4250399" y="1161609"/>
                  </a:cubicBezTo>
                  <a:lnTo>
                    <a:pt x="24327" y="1161609"/>
                  </a:lnTo>
                  <a:cubicBezTo>
                    <a:pt x="10891" y="1161609"/>
                    <a:pt x="0" y="1150717"/>
                    <a:pt x="0" y="113728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19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983003" y="7431908"/>
            <a:ext cx="2923895" cy="3169533"/>
          </a:xfrm>
          <a:custGeom>
            <a:avLst/>
            <a:gdLst/>
            <a:ahLst/>
            <a:cxnLst/>
            <a:rect r="r" b="b" t="t" l="l"/>
            <a:pathLst>
              <a:path h="3169533" w="2923895">
                <a:moveTo>
                  <a:pt x="0" y="0"/>
                </a:moveTo>
                <a:lnTo>
                  <a:pt x="2923894" y="0"/>
                </a:lnTo>
                <a:lnTo>
                  <a:pt x="2923894" y="3169533"/>
                </a:lnTo>
                <a:lnTo>
                  <a:pt x="0" y="31695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4697" y="7494965"/>
            <a:ext cx="3746793" cy="3526669"/>
          </a:xfrm>
          <a:custGeom>
            <a:avLst/>
            <a:gdLst/>
            <a:ahLst/>
            <a:cxnLst/>
            <a:rect r="r" b="b" t="t" l="l"/>
            <a:pathLst>
              <a:path h="3526669" w="3746793">
                <a:moveTo>
                  <a:pt x="0" y="0"/>
                </a:moveTo>
                <a:lnTo>
                  <a:pt x="3746794" y="0"/>
                </a:lnTo>
                <a:lnTo>
                  <a:pt x="3746794" y="3526670"/>
                </a:lnTo>
                <a:lnTo>
                  <a:pt x="0" y="3526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20627" y="1945325"/>
            <a:ext cx="9246745" cy="171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90"/>
              </a:lnSpc>
            </a:pPr>
            <a:r>
              <a:rPr lang="en-US" sz="9564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FUTURE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3050" y="3826825"/>
            <a:ext cx="146019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Future Enhancements – Key-Value Extraction &amp; Automation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Implement automatic key-value pair extraction.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Train custom model for invoice-specific data.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Integrate OCR with database storage.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Develop a web interface for uploading invoices.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5F5E3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Improve preprocessing techniques for higher accuracy.</a:t>
            </a:r>
          </a:p>
          <a:p>
            <a:pPr algn="just" marL="0" indent="0" lvl="0">
              <a:lnSpc>
                <a:spcPts val="42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389399" y="-1438773"/>
            <a:ext cx="3509202" cy="2877545"/>
          </a:xfrm>
          <a:custGeom>
            <a:avLst/>
            <a:gdLst/>
            <a:ahLst/>
            <a:cxnLst/>
            <a:rect r="r" b="b" t="t" l="l"/>
            <a:pathLst>
              <a:path h="2877545" w="3509202">
                <a:moveTo>
                  <a:pt x="0" y="0"/>
                </a:moveTo>
                <a:lnTo>
                  <a:pt x="3509202" y="0"/>
                </a:lnTo>
                <a:lnTo>
                  <a:pt x="3509202" y="2877546"/>
                </a:lnTo>
                <a:lnTo>
                  <a:pt x="0" y="2877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13695" y="3001928"/>
            <a:ext cx="7260610" cy="12055989"/>
          </a:xfrm>
          <a:custGeom>
            <a:avLst/>
            <a:gdLst/>
            <a:ahLst/>
            <a:cxnLst/>
            <a:rect r="r" b="b" t="t" l="l"/>
            <a:pathLst>
              <a:path h="12055989" w="7260610">
                <a:moveTo>
                  <a:pt x="0" y="0"/>
                </a:moveTo>
                <a:lnTo>
                  <a:pt x="7260610" y="0"/>
                </a:lnTo>
                <a:lnTo>
                  <a:pt x="7260610" y="12055989"/>
                </a:lnTo>
                <a:lnTo>
                  <a:pt x="0" y="12055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4055" y="657225"/>
            <a:ext cx="10119891" cy="458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18"/>
              </a:lnSpc>
            </a:pPr>
            <a:r>
              <a:rPr lang="en-US" sz="13084" spc="1269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448576"/>
            <a:ext cx="3988523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</a:pPr>
            <a:r>
              <a:rPr lang="en-US" sz="3000">
                <a:solidFill>
                  <a:srgbClr val="4A416C"/>
                </a:solidFill>
                <a:latin typeface="Montserrat"/>
                <a:ea typeface="Montserrat"/>
                <a:cs typeface="Montserrat"/>
                <a:sym typeface="Montserrat"/>
              </a:rPr>
              <a:t>Presented by Venkata Sai Pranavi</a:t>
            </a:r>
          </a:p>
          <a:p>
            <a:pPr algn="l" marL="0" indent="0" lvl="0">
              <a:lnSpc>
                <a:spcPts val="315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259300" y="636457"/>
            <a:ext cx="1688786" cy="1736540"/>
          </a:xfrm>
          <a:custGeom>
            <a:avLst/>
            <a:gdLst/>
            <a:ahLst/>
            <a:cxnLst/>
            <a:rect r="r" b="b" t="t" l="l"/>
            <a:pathLst>
              <a:path h="1736540" w="1688786">
                <a:moveTo>
                  <a:pt x="0" y="0"/>
                </a:moveTo>
                <a:lnTo>
                  <a:pt x="1688786" y="0"/>
                </a:lnTo>
                <a:lnTo>
                  <a:pt x="1688786" y="1736540"/>
                </a:lnTo>
                <a:lnTo>
                  <a:pt x="0" y="1736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78126" y="-926913"/>
            <a:ext cx="2613651" cy="2605453"/>
          </a:xfrm>
          <a:custGeom>
            <a:avLst/>
            <a:gdLst/>
            <a:ahLst/>
            <a:cxnLst/>
            <a:rect r="r" b="b" t="t" l="l"/>
            <a:pathLst>
              <a:path h="2605453" w="2613651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94015" y="7604193"/>
            <a:ext cx="3031394" cy="3163694"/>
          </a:xfrm>
          <a:custGeom>
            <a:avLst/>
            <a:gdLst/>
            <a:ahLst/>
            <a:cxnLst/>
            <a:rect r="r" b="b" t="t" l="l"/>
            <a:pathLst>
              <a:path h="3163694" w="3031394">
                <a:moveTo>
                  <a:pt x="0" y="0"/>
                </a:moveTo>
                <a:lnTo>
                  <a:pt x="3031393" y="0"/>
                </a:lnTo>
                <a:lnTo>
                  <a:pt x="3031393" y="3163694"/>
                </a:lnTo>
                <a:lnTo>
                  <a:pt x="0" y="3163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DAHB6xdnQHM</dc:identifier>
  <dcterms:modified xsi:type="dcterms:W3CDTF">2011-08-01T06:04:30Z</dcterms:modified>
  <cp:revision>1</cp:revision>
  <dc:title>MileSTone -2</dc:title>
</cp:coreProperties>
</file>